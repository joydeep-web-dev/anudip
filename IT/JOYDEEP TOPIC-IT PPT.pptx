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1" u="sng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1" u="sng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1" u="sng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40" y="2519629"/>
            <a:ext cx="3170554" cy="4050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3"/>
            <a:ext cx="9144000" cy="1028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01357" y="0"/>
            <a:ext cx="4742642" cy="5999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088207" cy="10205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828" y="52323"/>
            <a:ext cx="9145590" cy="90182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60092" y="0"/>
            <a:ext cx="6129401" cy="23239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1" u="sng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23"/>
            <a:ext cx="9144000" cy="1028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1357" y="0"/>
            <a:ext cx="4742642" cy="5999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9088207" cy="10205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828" y="52323"/>
            <a:ext cx="9145590" cy="9018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779475"/>
            <a:ext cx="8255000" cy="1550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1" u="sng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750" y="2351151"/>
            <a:ext cx="8347075" cy="307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C26D-D0B6-B7BC-179D-0D986B03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779475"/>
            <a:ext cx="8255000" cy="1550670"/>
          </a:xfrm>
        </p:spPr>
        <p:txBody>
          <a:bodyPr wrap="square">
            <a:normAutofit/>
          </a:bodyPr>
          <a:lstStyle/>
          <a:p>
            <a:r>
              <a:rPr lang="en-IN" i="0" u="none" spc="-40"/>
              <a:t>TOPIC:INFORMATION </a:t>
            </a:r>
            <a:r>
              <a:rPr lang="en-IN" i="0" u="none" spc="-10"/>
              <a:t>TECHNOLOGY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90C07-9495-0F5C-BBF2-EE37AC132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940" y="2519629"/>
            <a:ext cx="3170554" cy="4050029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By –JOYDEEP PAUL </a:t>
            </a:r>
            <a:endParaRPr lang="en-IN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FDE5C-69C6-FC90-BEE7-BF72F2CF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" r="36346" b="-2"/>
          <a:stretch>
            <a:fillRect/>
          </a:stretch>
        </p:blipFill>
        <p:spPr>
          <a:xfrm>
            <a:off x="4709160" y="1577340"/>
            <a:ext cx="3977640" cy="4526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338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6901" y="560578"/>
            <a:ext cx="6223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0770" marR="5080" indent="-233870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1:Introduction</a:t>
            </a:r>
            <a:r>
              <a:rPr sz="3600" spc="-45" dirty="0"/>
              <a:t> </a:t>
            </a:r>
            <a:r>
              <a:rPr sz="3600" dirty="0"/>
              <a:t>to</a:t>
            </a:r>
            <a:r>
              <a:rPr sz="3600" spc="-70" dirty="0"/>
              <a:t> </a:t>
            </a:r>
            <a:r>
              <a:rPr sz="3600" dirty="0"/>
              <a:t>IT</a:t>
            </a:r>
            <a:r>
              <a:rPr sz="3600" spc="-65" dirty="0"/>
              <a:t> </a:t>
            </a:r>
            <a:r>
              <a:rPr sz="3600" dirty="0"/>
              <a:t>and</a:t>
            </a:r>
            <a:r>
              <a:rPr sz="3600" spc="-60" dirty="0"/>
              <a:t> </a:t>
            </a:r>
            <a:r>
              <a:rPr sz="3600" spc="-10" dirty="0"/>
              <a:t>Business</a:t>
            </a:r>
            <a:r>
              <a:rPr sz="3600" u="none" spc="-10" dirty="0"/>
              <a:t> </a:t>
            </a:r>
            <a:r>
              <a:rPr sz="3600" spc="-10" dirty="0"/>
              <a:t>Systems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2541" y="1822107"/>
            <a:ext cx="7414259" cy="4643120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2800" b="1" dirty="0">
                <a:solidFill>
                  <a:srgbClr val="04607A"/>
                </a:solidFill>
                <a:latin typeface="Calibri"/>
                <a:cs typeface="Calibri"/>
              </a:rPr>
              <a:t>Subtitle:</a:t>
            </a:r>
            <a:r>
              <a:rPr sz="2800" b="1" spc="-6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4607A"/>
                </a:solidFill>
                <a:latin typeface="Calibri"/>
                <a:cs typeface="Calibri"/>
              </a:rPr>
              <a:t>Fundamentals</a:t>
            </a:r>
            <a:r>
              <a:rPr sz="2800" b="1" spc="-7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4607A"/>
                </a:solidFill>
                <a:latin typeface="Calibri"/>
                <a:cs typeface="Calibri"/>
              </a:rPr>
              <a:t>of</a:t>
            </a:r>
            <a:r>
              <a:rPr sz="2800" b="1" spc="-85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4607A"/>
                </a:solidFill>
                <a:latin typeface="Calibri"/>
                <a:cs typeface="Calibri"/>
              </a:rPr>
              <a:t>Information</a:t>
            </a:r>
            <a:r>
              <a:rPr sz="2800" b="1" spc="-7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4607A"/>
                </a:solidFill>
                <a:latin typeface="Calibri"/>
                <a:cs typeface="Calibri"/>
              </a:rPr>
              <a:t>Technology</a:t>
            </a:r>
            <a:endParaRPr sz="2800">
              <a:latin typeface="Calibri"/>
              <a:cs typeface="Calibri"/>
            </a:endParaRPr>
          </a:p>
          <a:p>
            <a:pPr marL="463550" indent="-273685">
              <a:lnSpc>
                <a:spcPct val="100000"/>
              </a:lnSpc>
              <a:spcBef>
                <a:spcPts val="118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463550" algn="l"/>
              </a:tabLst>
            </a:pPr>
            <a:r>
              <a:rPr sz="2000" b="1" dirty="0">
                <a:latin typeface="Calibri"/>
                <a:cs typeface="Calibri"/>
              </a:rPr>
              <a:t>What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Information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Technology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(IT)?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Font typeface="Wingdings 2"/>
              <a:buChar char=""/>
            </a:pPr>
            <a:endParaRPr sz="2000">
              <a:latin typeface="Calibri"/>
              <a:cs typeface="Calibri"/>
            </a:endParaRPr>
          </a:p>
          <a:p>
            <a:pPr marL="464184" marR="570865" indent="-274320">
              <a:lnSpc>
                <a:spcPct val="8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464184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refers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databases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information.</a:t>
            </a:r>
            <a:endParaRPr sz="1800">
              <a:latin typeface="Calibri"/>
              <a:cs typeface="Calibri"/>
            </a:endParaRPr>
          </a:p>
          <a:p>
            <a:pPr marL="464184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464184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enables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problem-</a:t>
            </a:r>
            <a:r>
              <a:rPr sz="1800" spc="-10" dirty="0">
                <a:latin typeface="Calibri"/>
                <a:cs typeface="Calibri"/>
              </a:rPr>
              <a:t>solving.</a:t>
            </a:r>
            <a:endParaRPr sz="1800">
              <a:latin typeface="Calibri"/>
              <a:cs typeface="Calibri"/>
            </a:endParaRPr>
          </a:p>
          <a:p>
            <a:pPr marL="464184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464184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supports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automation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improves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organizational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efficiency.</a:t>
            </a:r>
            <a:endParaRPr sz="1800">
              <a:latin typeface="Calibri"/>
              <a:cs typeface="Calibri"/>
            </a:endParaRPr>
          </a:p>
          <a:p>
            <a:pPr marL="463550" indent="-273685">
              <a:lnSpc>
                <a:spcPct val="100000"/>
              </a:lnSpc>
              <a:spcBef>
                <a:spcPts val="215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463550" algn="l"/>
              </a:tabLst>
            </a:pPr>
            <a:r>
              <a:rPr sz="2000" b="1" dirty="0">
                <a:latin typeface="Calibri"/>
                <a:cs typeface="Calibri"/>
              </a:rPr>
              <a:t>Key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Components:</a:t>
            </a:r>
            <a:endParaRPr sz="2000">
              <a:latin typeface="Calibri"/>
              <a:cs typeface="Calibri"/>
            </a:endParaRPr>
          </a:p>
          <a:p>
            <a:pPr marL="464184" indent="-274320">
              <a:lnSpc>
                <a:spcPct val="100000"/>
              </a:lnSpc>
              <a:spcBef>
                <a:spcPts val="2415"/>
              </a:spcBef>
              <a:buClr>
                <a:srgbClr val="0AD0D9"/>
              </a:buClr>
              <a:buSzPct val="94117"/>
              <a:buFont typeface="Wingdings 2"/>
              <a:buChar char=""/>
              <a:tabLst>
                <a:tab pos="464184" algn="l"/>
              </a:tabLst>
            </a:pPr>
            <a:r>
              <a:rPr sz="1700" spc="-10" dirty="0">
                <a:latin typeface="Calibri"/>
                <a:cs typeface="Calibri"/>
              </a:rPr>
              <a:t>Hardware</a:t>
            </a:r>
            <a:endParaRPr sz="1700">
              <a:latin typeface="Calibri"/>
              <a:cs typeface="Calibri"/>
            </a:endParaRPr>
          </a:p>
          <a:p>
            <a:pPr marL="464184" indent="-274320">
              <a:lnSpc>
                <a:spcPct val="100000"/>
              </a:lnSpc>
              <a:buClr>
                <a:srgbClr val="0AD0D9"/>
              </a:buClr>
              <a:buSzPct val="94117"/>
              <a:buFont typeface="Wingdings 2"/>
              <a:buChar char=""/>
              <a:tabLst>
                <a:tab pos="464184" algn="l"/>
              </a:tabLst>
            </a:pPr>
            <a:r>
              <a:rPr sz="1700" spc="-10" dirty="0">
                <a:latin typeface="Calibri"/>
                <a:cs typeface="Calibri"/>
              </a:rPr>
              <a:t>Software</a:t>
            </a:r>
            <a:endParaRPr sz="1700">
              <a:latin typeface="Calibri"/>
              <a:cs typeface="Calibri"/>
            </a:endParaRPr>
          </a:p>
          <a:p>
            <a:pPr marL="464184" indent="-274320">
              <a:lnSpc>
                <a:spcPct val="100000"/>
              </a:lnSpc>
              <a:buClr>
                <a:srgbClr val="0AD0D9"/>
              </a:buClr>
              <a:buSzPct val="94117"/>
              <a:buFont typeface="Wingdings 2"/>
              <a:buChar char=""/>
              <a:tabLst>
                <a:tab pos="464184" algn="l"/>
              </a:tabLst>
            </a:pPr>
            <a:r>
              <a:rPr sz="1700" spc="-10" dirty="0">
                <a:latin typeface="Calibri"/>
                <a:cs typeface="Calibri"/>
              </a:rPr>
              <a:t>Networks</a:t>
            </a:r>
            <a:endParaRPr sz="1700">
              <a:latin typeface="Calibri"/>
              <a:cs typeface="Calibri"/>
            </a:endParaRPr>
          </a:p>
          <a:p>
            <a:pPr marL="464184" indent="-274320">
              <a:lnSpc>
                <a:spcPct val="100000"/>
              </a:lnSpc>
              <a:buClr>
                <a:srgbClr val="0AD0D9"/>
              </a:buClr>
              <a:buSzPct val="94117"/>
              <a:buFont typeface="Wingdings 2"/>
              <a:buChar char=""/>
              <a:tabLst>
                <a:tab pos="464184" algn="l"/>
              </a:tabLst>
            </a:pPr>
            <a:r>
              <a:rPr sz="1700" spc="-10" dirty="0">
                <a:latin typeface="Calibri"/>
                <a:cs typeface="Calibri"/>
              </a:rPr>
              <a:t>Databases</a:t>
            </a:r>
            <a:endParaRPr sz="1700">
              <a:latin typeface="Calibri"/>
              <a:cs typeface="Calibri"/>
            </a:endParaRPr>
          </a:p>
          <a:p>
            <a:pPr marL="464184" indent="-274320">
              <a:lnSpc>
                <a:spcPct val="100000"/>
              </a:lnSpc>
              <a:buClr>
                <a:srgbClr val="0AD0D9"/>
              </a:buClr>
              <a:buSzPct val="94117"/>
              <a:buFont typeface="Wingdings 2"/>
              <a:buChar char=""/>
              <a:tabLst>
                <a:tab pos="464184" algn="l"/>
              </a:tabLst>
            </a:pPr>
            <a:r>
              <a:rPr sz="1700" spc="-10" dirty="0">
                <a:latin typeface="Calibri"/>
                <a:cs typeface="Calibri"/>
              </a:rPr>
              <a:t>Cybersecurity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476" y="793445"/>
            <a:ext cx="771842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IT</a:t>
            </a:r>
            <a:r>
              <a:rPr spc="-6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Business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60492"/>
            <a:ext cx="5257165" cy="395414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9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Calibri"/>
                <a:cs typeface="Calibri"/>
              </a:rPr>
              <a:t>How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IT</a:t>
            </a:r>
            <a:r>
              <a:rPr sz="2600" b="1" spc="-1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Supports</a:t>
            </a:r>
            <a:r>
              <a:rPr sz="2600" b="1" spc="-10" dirty="0">
                <a:latin typeface="Calibri"/>
                <a:cs typeface="Calibri"/>
              </a:rPr>
              <a:t> Businesses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75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Automates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routine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business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processes.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Improves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collaboration.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Enables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decision-</a:t>
            </a:r>
            <a:r>
              <a:rPr sz="1800" dirty="0">
                <a:latin typeface="Calibri"/>
                <a:cs typeface="Calibri"/>
              </a:rPr>
              <a:t>making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analysis.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Enhances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service.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Supports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remote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computing.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75"/>
              </a:spcBef>
              <a:buFont typeface="Wingdings 2"/>
              <a:buChar char=""/>
            </a:pP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spc="-10" dirty="0">
                <a:latin typeface="Calibri"/>
                <a:cs typeface="Calibri"/>
              </a:rPr>
              <a:t>Examples: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75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Online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banking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E-commerce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platforms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Inventory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476" y="722503"/>
            <a:ext cx="70688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Overview</a:t>
            </a:r>
            <a:r>
              <a:rPr spc="-11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dirty="0"/>
              <a:t>Business</a:t>
            </a:r>
            <a:r>
              <a:rPr spc="-12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90941"/>
            <a:ext cx="7715250" cy="38068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58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b="1" dirty="0">
                <a:latin typeface="Calibri"/>
                <a:cs typeface="Calibri"/>
              </a:rPr>
              <a:t>What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Business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Systems?</a:t>
            </a:r>
            <a:endParaRPr sz="2000">
              <a:latin typeface="Calibri"/>
              <a:cs typeface="Calibri"/>
            </a:endParaRPr>
          </a:p>
          <a:p>
            <a:pPr marL="286385" marR="417830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dirty="0">
                <a:latin typeface="Calibri"/>
                <a:cs typeface="Calibri"/>
              </a:rPr>
              <a:t>Business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organizations </a:t>
            </a:r>
            <a:r>
              <a:rPr sz="2000" dirty="0">
                <a:latin typeface="Calibri"/>
                <a:cs typeface="Calibri"/>
              </a:rPr>
              <a:t>manage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efficiently.</a:t>
            </a:r>
            <a:endParaRPr sz="20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b="1" dirty="0">
                <a:latin typeface="Calibri"/>
                <a:cs typeface="Calibri"/>
              </a:rPr>
              <a:t>Common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Types:</a:t>
            </a:r>
            <a:endParaRPr sz="20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b="1" dirty="0">
                <a:latin typeface="Calibri"/>
                <a:cs typeface="Calibri"/>
              </a:rPr>
              <a:t>ERP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(Enterprise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Resource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Planning):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finance,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HR,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production,</a:t>
            </a:r>
            <a:endParaRPr sz="20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inventory.</a:t>
            </a:r>
            <a:endParaRPr sz="2000">
              <a:latin typeface="Calibri"/>
              <a:cs typeface="Calibri"/>
            </a:endParaRPr>
          </a:p>
          <a:p>
            <a:pPr marL="286385" marR="1780539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b="1" dirty="0">
                <a:latin typeface="Calibri"/>
                <a:cs typeface="Calibri"/>
              </a:rPr>
              <a:t>CRM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(Customer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Relationship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Management):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Manages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interactions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sales.</a:t>
            </a:r>
            <a:endParaRPr sz="20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b="1" dirty="0">
                <a:latin typeface="Calibri"/>
                <a:cs typeface="Calibri"/>
              </a:rPr>
              <a:t>SCM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(Supply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Chain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Management):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Optimizes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activities.</a:t>
            </a:r>
            <a:endParaRPr sz="20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b="1" dirty="0">
                <a:latin typeface="Calibri"/>
                <a:cs typeface="Calibri"/>
              </a:rPr>
              <a:t>HRMS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(Human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Resource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Management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System):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Manages</a:t>
            </a:r>
            <a:endParaRPr sz="20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employee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4702" y="564845"/>
            <a:ext cx="522033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Interplay</a:t>
            </a:r>
            <a:r>
              <a:rPr spc="-170" dirty="0"/>
              <a:t> </a:t>
            </a:r>
            <a:r>
              <a:rPr dirty="0"/>
              <a:t>Between</a:t>
            </a:r>
            <a:r>
              <a:rPr spc="-135" dirty="0"/>
              <a:t> </a:t>
            </a:r>
            <a:r>
              <a:rPr spc="-25" dirty="0"/>
              <a:t>IT</a:t>
            </a:r>
            <a:r>
              <a:rPr u="none" spc="-2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dirty="0"/>
              <a:t>Business</a:t>
            </a:r>
            <a:r>
              <a:rPr spc="-125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13177"/>
            <a:ext cx="5662295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b="1" dirty="0">
                <a:latin typeface="Calibri"/>
                <a:cs typeface="Calibri"/>
              </a:rPr>
              <a:t>IT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as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Strategic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Asset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Aligns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technology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goals.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5454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Supports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innovation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digital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transformation.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Creates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competitive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advantage.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Improves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operational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efficiency.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Enables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data-</a:t>
            </a:r>
            <a:r>
              <a:rPr sz="2200" dirty="0">
                <a:latin typeface="Calibri"/>
                <a:cs typeface="Calibri"/>
              </a:rPr>
              <a:t>driven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strategic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planning.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645"/>
              </a:spcBef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b="1" spc="-10" dirty="0">
                <a:latin typeface="Calibri"/>
                <a:cs typeface="Calibri"/>
              </a:rPr>
              <a:t>Examples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AI-powered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customer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support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Cloud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computing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intelligence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dashboards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7805" y="752982"/>
            <a:ext cx="55479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latin typeface="Calibri"/>
                <a:cs typeface="Calibri"/>
              </a:rPr>
              <a:t>Benefits</a:t>
            </a:r>
            <a:r>
              <a:rPr sz="4400" i="0" spc="-60" dirty="0">
                <a:latin typeface="Calibri"/>
                <a:cs typeface="Calibri"/>
              </a:rPr>
              <a:t> </a:t>
            </a:r>
            <a:r>
              <a:rPr sz="4400" i="0" dirty="0">
                <a:latin typeface="Calibri"/>
                <a:cs typeface="Calibri"/>
              </a:rPr>
              <a:t>and</a:t>
            </a:r>
            <a:r>
              <a:rPr sz="4400" i="0" spc="-20" dirty="0">
                <a:latin typeface="Calibri"/>
                <a:cs typeface="Calibri"/>
              </a:rPr>
              <a:t> </a:t>
            </a:r>
            <a:r>
              <a:rPr sz="4400" i="0" spc="-10" dirty="0">
                <a:latin typeface="Calibri"/>
                <a:cs typeface="Calibri"/>
              </a:rPr>
              <a:t>Challenges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916" y="1597663"/>
            <a:ext cx="3288665" cy="43453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590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Benefits:</a:t>
            </a:r>
            <a:endParaRPr sz="20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4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Increased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productivity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reduction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Improved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satisfaction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Faster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decision-making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buClr>
                <a:srgbClr val="0AD0D9"/>
              </a:buClr>
              <a:buFont typeface="Wingdings 2"/>
              <a:buChar char=""/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Challenges: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Cybersecurity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threats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High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20" dirty="0">
                <a:latin typeface="Calibri"/>
                <a:cs typeface="Calibri"/>
              </a:rPr>
              <a:t> costs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Employee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training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Rapid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technological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changes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privacy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concerns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45663" y="651128"/>
            <a:ext cx="28111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Calibri"/>
                <a:cs typeface="Calibri"/>
              </a:rPr>
              <a:t>ERP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vs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spc="-25" dirty="0">
                <a:latin typeface="Calibri"/>
                <a:cs typeface="Calibri"/>
              </a:rPr>
              <a:t>CRM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363" y="2116848"/>
            <a:ext cx="6458330" cy="38721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37" y="2143112"/>
            <a:ext cx="6333744" cy="374904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6774" y="2138362"/>
          <a:ext cx="6419850" cy="374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25" dirty="0">
                          <a:latin typeface="Constantia"/>
                          <a:cs typeface="Constantia"/>
                        </a:rPr>
                        <a:t>ERP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25" dirty="0">
                          <a:latin typeface="Constantia"/>
                          <a:cs typeface="Constantia"/>
                        </a:rPr>
                        <a:t>CRM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5130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20" dirty="0">
                          <a:latin typeface="Constantia"/>
                          <a:cs typeface="Constantia"/>
                        </a:rPr>
                        <a:t>Manages</a:t>
                      </a:r>
                      <a:r>
                        <a:rPr sz="2400" spc="-7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internal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business</a:t>
                      </a:r>
                      <a:r>
                        <a:rPr sz="2400" spc="-14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processes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283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25" dirty="0">
                          <a:latin typeface="Constantia"/>
                          <a:cs typeface="Constantia"/>
                        </a:rPr>
                        <a:t>Manages</a:t>
                      </a:r>
                      <a:r>
                        <a:rPr sz="24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customer relationships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1440" marR="15144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25" dirty="0">
                          <a:latin typeface="Constantia"/>
                          <a:cs typeface="Constantia"/>
                        </a:rPr>
                        <a:t>Focuses</a:t>
                      </a:r>
                      <a:r>
                        <a:rPr sz="2400" spc="-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on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operations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0228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25" dirty="0">
                          <a:latin typeface="Constantia"/>
                          <a:cs typeface="Constantia"/>
                        </a:rPr>
                        <a:t>Focuses</a:t>
                      </a:r>
                      <a:r>
                        <a:rPr sz="24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on</a:t>
                      </a:r>
                      <a:r>
                        <a:rPr sz="24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sales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and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marketing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126936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Used</a:t>
                      </a:r>
                      <a:r>
                        <a:rPr sz="24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30" dirty="0">
                          <a:latin typeface="Constantia"/>
                          <a:cs typeface="Constantia"/>
                        </a:rPr>
                        <a:t>by</a:t>
                      </a:r>
                      <a:r>
                        <a:rPr sz="2400" spc="-1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all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departments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984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Used</a:t>
                      </a:r>
                      <a:r>
                        <a:rPr sz="2400" spc="-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mainly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by</a:t>
                      </a:r>
                      <a:r>
                        <a:rPr sz="2400" spc="-1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sales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and</a:t>
                      </a:r>
                      <a:r>
                        <a:rPr sz="24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customer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support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400" spc="-25" dirty="0">
                          <a:latin typeface="Constantia"/>
                          <a:cs typeface="Constantia"/>
                        </a:rPr>
                        <a:t>Improves</a:t>
                      </a:r>
                      <a:r>
                        <a:rPr sz="2400" spc="-1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efficiency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09550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705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25" dirty="0">
                          <a:latin typeface="Constantia"/>
                          <a:cs typeface="Constantia"/>
                        </a:rPr>
                        <a:t>Improves</a:t>
                      </a:r>
                      <a:r>
                        <a:rPr sz="2400" spc="-1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customer satisfaction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39AA0"/>
                      </a:solidFill>
                      <a:prstDash val="solid"/>
                    </a:lnL>
                    <a:lnR w="9525">
                      <a:solidFill>
                        <a:srgbClr val="039AA0"/>
                      </a:solidFill>
                      <a:prstDash val="solid"/>
                    </a:lnR>
                    <a:lnT w="9525">
                      <a:solidFill>
                        <a:srgbClr val="039AA0"/>
                      </a:solidFill>
                      <a:prstDash val="solid"/>
                    </a:lnT>
                    <a:lnB w="9525">
                      <a:solidFill>
                        <a:srgbClr val="039A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6177" y="579196"/>
            <a:ext cx="261175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10" dirty="0">
                <a:latin typeface="Calibri"/>
                <a:cs typeface="Calibri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69160"/>
            <a:ext cx="7444105" cy="35921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600" b="1" dirty="0">
                <a:latin typeface="Calibri"/>
                <a:cs typeface="Calibri"/>
              </a:rPr>
              <a:t>Key</a:t>
            </a:r>
            <a:r>
              <a:rPr sz="2600" b="1" spc="-114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Takeaways</a:t>
            </a:r>
            <a:endParaRPr sz="2600">
              <a:latin typeface="Calibri"/>
              <a:cs typeface="Calibri"/>
            </a:endParaRPr>
          </a:p>
          <a:p>
            <a:pPr marL="286385" marR="84455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Technology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essential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modern businesses.</a:t>
            </a:r>
            <a:endParaRPr sz="2600">
              <a:latin typeface="Calibri"/>
              <a:cs typeface="Calibri"/>
            </a:endParaRPr>
          </a:p>
          <a:p>
            <a:pPr marL="286385" marR="1274445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improve organizational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performance.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supports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operations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strategic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growth.</a:t>
            </a:r>
            <a:endParaRPr sz="2600">
              <a:latin typeface="Calibri"/>
              <a:cs typeface="Calibri"/>
            </a:endParaRPr>
          </a:p>
          <a:p>
            <a:pPr marL="286385" marR="44069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Successful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align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long-</a:t>
            </a:r>
            <a:r>
              <a:rPr sz="2600" spc="-20" dirty="0">
                <a:latin typeface="Calibri"/>
                <a:cs typeface="Calibri"/>
              </a:rPr>
              <a:t>term </a:t>
            </a:r>
            <a:r>
              <a:rPr sz="2600" spc="-10" dirty="0">
                <a:latin typeface="Calibri"/>
                <a:cs typeface="Calibri"/>
              </a:rPr>
              <a:t>objectives.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90014" y="536828"/>
            <a:ext cx="63671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0" marR="5080" indent="-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2:Data</a:t>
            </a:r>
            <a:r>
              <a:rPr spc="-155" dirty="0"/>
              <a:t> </a:t>
            </a:r>
            <a:r>
              <a:rPr dirty="0"/>
              <a:t>Types,</a:t>
            </a:r>
            <a:r>
              <a:rPr spc="-150" dirty="0"/>
              <a:t> </a:t>
            </a:r>
            <a:r>
              <a:rPr dirty="0"/>
              <a:t>Sources,</a:t>
            </a:r>
            <a:r>
              <a:rPr spc="-150" dirty="0"/>
              <a:t> </a:t>
            </a:r>
            <a:r>
              <a:rPr spc="-25" dirty="0"/>
              <a:t>and</a:t>
            </a:r>
            <a:r>
              <a:rPr u="none" spc="-25" dirty="0"/>
              <a:t> </a:t>
            </a:r>
            <a:r>
              <a:rPr spc="-10" dirty="0"/>
              <a:t>Lifecycle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2010536"/>
            <a:ext cx="785431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sng" spc="-2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Understanding</a:t>
            </a:r>
            <a:r>
              <a:rPr sz="3600" b="1" u="sng" spc="-105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600" b="1" u="sng" spc="-1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Different</a:t>
            </a:r>
            <a:r>
              <a:rPr sz="3600" b="1" u="sng" spc="-145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600" b="1" u="sng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Data</a:t>
            </a:r>
            <a:r>
              <a:rPr sz="3600" b="1" u="sng" spc="-13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600" b="1" u="sng" spc="-1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Types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10"/>
              </a:spcBef>
            </a:pPr>
            <a:r>
              <a:rPr sz="1800" b="1" dirty="0">
                <a:latin typeface="Calibri"/>
                <a:cs typeface="Calibri"/>
              </a:rPr>
              <a:t>What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Data?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ts val="1945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analyze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</a:t>
            </a:r>
            <a:endParaRPr sz="1800">
              <a:latin typeface="Calibri"/>
              <a:cs typeface="Calibri"/>
            </a:endParaRPr>
          </a:p>
          <a:p>
            <a:pPr marL="286385">
              <a:lnSpc>
                <a:spcPts val="1945"/>
              </a:lnSpc>
            </a:pPr>
            <a:r>
              <a:rPr sz="1800" spc="-10" dirty="0">
                <a:latin typeface="Calibri"/>
                <a:cs typeface="Calibri"/>
              </a:rPr>
              <a:t>decision-making.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Types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b="1" dirty="0">
                <a:latin typeface="Calibri"/>
                <a:cs typeface="Calibri"/>
              </a:rPr>
              <a:t>Structured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spcBef>
                <a:spcPts val="5"/>
              </a:spcBef>
              <a:buClr>
                <a:srgbClr val="0E6EC5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1700" spc="-10" dirty="0">
                <a:latin typeface="Calibri"/>
                <a:cs typeface="Calibri"/>
              </a:rPr>
              <a:t>Organized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rows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columns</a:t>
            </a:r>
            <a:endParaRPr sz="17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buClr>
                <a:srgbClr val="0E6EC5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1700" dirty="0">
                <a:latin typeface="Calibri"/>
                <a:cs typeface="Calibri"/>
              </a:rPr>
              <a:t>Stored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relational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databases</a:t>
            </a:r>
            <a:endParaRPr sz="1700">
              <a:latin typeface="Calibri"/>
              <a:cs typeface="Calibri"/>
            </a:endParaRPr>
          </a:p>
          <a:p>
            <a:pPr marL="652780" lvl="1" indent="-247015">
              <a:lnSpc>
                <a:spcPts val="2039"/>
              </a:lnSpc>
              <a:buClr>
                <a:srgbClr val="0E6EC5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1700" dirty="0">
                <a:latin typeface="Calibri"/>
                <a:cs typeface="Calibri"/>
              </a:rPr>
              <a:t>Example:</a:t>
            </a:r>
            <a:r>
              <a:rPr sz="1700" spc="-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Employee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records</a:t>
            </a:r>
            <a:endParaRPr sz="17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b="1" dirty="0">
                <a:latin typeface="Calibri"/>
                <a:cs typeface="Calibri"/>
              </a:rPr>
              <a:t>Unstructured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spcBef>
                <a:spcPts val="5"/>
              </a:spcBef>
              <a:buClr>
                <a:srgbClr val="0E6EC5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1700" dirty="0">
                <a:latin typeface="Calibri"/>
                <a:cs typeface="Calibri"/>
              </a:rPr>
              <a:t>No </a:t>
            </a:r>
            <a:r>
              <a:rPr sz="1700" spc="-10" dirty="0">
                <a:latin typeface="Calibri"/>
                <a:cs typeface="Calibri"/>
              </a:rPr>
              <a:t>predefined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format</a:t>
            </a:r>
            <a:endParaRPr sz="1700">
              <a:latin typeface="Calibri"/>
              <a:cs typeface="Calibri"/>
            </a:endParaRPr>
          </a:p>
          <a:p>
            <a:pPr marL="652780" lvl="1" indent="-247015">
              <a:lnSpc>
                <a:spcPts val="2039"/>
              </a:lnSpc>
              <a:buClr>
                <a:srgbClr val="0E6EC5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1700" dirty="0">
                <a:latin typeface="Calibri"/>
                <a:cs typeface="Calibri"/>
              </a:rPr>
              <a:t>Example: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Images,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videos,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emails</a:t>
            </a:r>
            <a:endParaRPr sz="1700">
              <a:latin typeface="Calibri"/>
              <a:cs typeface="Calibri"/>
            </a:endParaRPr>
          </a:p>
          <a:p>
            <a:pPr marL="286385" indent="-273685">
              <a:lnSpc>
                <a:spcPts val="216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b="1" dirty="0">
                <a:latin typeface="Calibri"/>
                <a:cs typeface="Calibri"/>
              </a:rPr>
              <a:t>Semi-</a:t>
            </a:r>
            <a:r>
              <a:rPr sz="1800" b="1" spc="-10" dirty="0">
                <a:latin typeface="Calibri"/>
                <a:cs typeface="Calibri"/>
              </a:rPr>
              <a:t>structured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buClr>
                <a:srgbClr val="0E6EC5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1700" dirty="0">
                <a:latin typeface="Calibri"/>
                <a:cs typeface="Calibri"/>
              </a:rPr>
              <a:t>Partially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organized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tags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metadata</a:t>
            </a:r>
            <a:endParaRPr sz="17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buClr>
                <a:srgbClr val="0E6EC5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1700" dirty="0">
                <a:latin typeface="Calibri"/>
                <a:cs typeface="Calibri"/>
              </a:rPr>
              <a:t>Example: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JSON,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XML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files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22503"/>
            <a:ext cx="536575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90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04441"/>
            <a:ext cx="414274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Sources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Data: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b="1" dirty="0">
                <a:latin typeface="Calibri"/>
                <a:cs typeface="Calibri"/>
              </a:rPr>
              <a:t>Internal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HR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Financial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reports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Inventory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External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Government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websites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media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Market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research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surveys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Other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spc="-10" dirty="0">
                <a:latin typeface="Calibri"/>
                <a:cs typeface="Calibri"/>
              </a:rPr>
              <a:t>Databases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1800" dirty="0">
                <a:latin typeface="Calibri"/>
                <a:cs typeface="Calibri"/>
              </a:rPr>
              <a:t>APIs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(Application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Interfaces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5848" y="793445"/>
            <a:ext cx="587565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85" dirty="0"/>
              <a:t> </a:t>
            </a:r>
            <a:r>
              <a:rPr dirty="0"/>
              <a:t>Collection</a:t>
            </a:r>
            <a:r>
              <a:rPr spc="-7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90725"/>
            <a:ext cx="3442970" cy="438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Methods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Collecting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Data: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Surveys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Questionnaires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Interviews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Observation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Online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Sensors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IoT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Devices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Web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Scraping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Mobile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20" dirty="0">
                <a:latin typeface="Calibri"/>
                <a:cs typeface="Calibri"/>
              </a:rPr>
              <a:t>APIs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Calibri"/>
                <a:cs typeface="Calibri"/>
              </a:rPr>
              <a:t>Benefits: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Accurate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information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Better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decisions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Improved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customer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insights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5848" y="783716"/>
            <a:ext cx="66535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25" dirty="0"/>
              <a:t> </a:t>
            </a:r>
            <a:r>
              <a:rPr dirty="0"/>
              <a:t>Lifecycle</a:t>
            </a:r>
            <a:r>
              <a:rPr spc="-12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7799"/>
            <a:ext cx="6974840" cy="36722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Calibri"/>
                <a:cs typeface="Calibri"/>
              </a:rPr>
              <a:t>Stages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Lifecycle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Calibri"/>
                <a:cs typeface="Calibri"/>
              </a:rPr>
              <a:t>Creation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generated.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spc="-10" dirty="0">
                <a:latin typeface="Calibri"/>
                <a:cs typeface="Calibri"/>
              </a:rPr>
              <a:t>Storage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securely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stored.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Calibri"/>
                <a:cs typeface="Calibri"/>
              </a:rPr>
              <a:t>Usage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analyzed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shared.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Calibri"/>
                <a:cs typeface="Calibri"/>
              </a:rPr>
              <a:t>Archiving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Old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preserved.</a:t>
            </a:r>
            <a:endParaRPr sz="2600">
              <a:latin typeface="Calibri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Calibri"/>
                <a:cs typeface="Calibri"/>
              </a:rPr>
              <a:t>Deletion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safely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removed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longer needed.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46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25" dirty="0"/>
              <a:t> </a:t>
            </a:r>
            <a:r>
              <a:rPr dirty="0"/>
              <a:t>Lifecycle</a:t>
            </a:r>
            <a:r>
              <a:rPr spc="-12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37002"/>
            <a:ext cx="2936240" cy="3812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Data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Lifecycle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Flow:</a:t>
            </a:r>
            <a:endParaRPr sz="2800">
              <a:latin typeface="Calibri"/>
              <a:cs typeface="Calibri"/>
            </a:endParaRPr>
          </a:p>
          <a:p>
            <a:pPr marR="2227580" algn="ctr">
              <a:lnSpc>
                <a:spcPct val="100000"/>
              </a:lnSpc>
              <a:spcBef>
                <a:spcPts val="2935"/>
              </a:spcBef>
            </a:pPr>
            <a:r>
              <a:rPr sz="2000" spc="-10" dirty="0">
                <a:latin typeface="Calibri"/>
                <a:cs typeface="Calibri"/>
              </a:rPr>
              <a:t>Create</a:t>
            </a:r>
            <a:endParaRPr sz="2000">
              <a:latin typeface="Calibri"/>
              <a:cs typeface="Calibri"/>
            </a:endParaRPr>
          </a:p>
          <a:p>
            <a:pPr marR="2330450" algn="ctr">
              <a:lnSpc>
                <a:spcPct val="100000"/>
              </a:lnSpc>
              <a:spcBef>
                <a:spcPts val="240"/>
              </a:spcBef>
            </a:pPr>
            <a:r>
              <a:rPr sz="2000" spc="-50" dirty="0">
                <a:latin typeface="Calibri"/>
                <a:cs typeface="Calibri"/>
              </a:rPr>
              <a:t>↓</a:t>
            </a:r>
            <a:endParaRPr sz="2000">
              <a:latin typeface="Calibri"/>
              <a:cs typeface="Calibri"/>
            </a:endParaRPr>
          </a:p>
          <a:p>
            <a:pPr marR="2357120" algn="ctr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latin typeface="Calibri"/>
                <a:cs typeface="Calibri"/>
              </a:rPr>
              <a:t>Store</a:t>
            </a:r>
            <a:endParaRPr sz="2000">
              <a:latin typeface="Calibri"/>
              <a:cs typeface="Calibri"/>
            </a:endParaRPr>
          </a:p>
          <a:p>
            <a:pPr marL="12700" marR="2514600" indent="170180">
              <a:lnSpc>
                <a:spcPct val="110000"/>
              </a:lnSpc>
            </a:pPr>
            <a:r>
              <a:rPr sz="2000" spc="-50" dirty="0">
                <a:latin typeface="Calibri"/>
                <a:cs typeface="Calibri"/>
              </a:rPr>
              <a:t>↓ </a:t>
            </a:r>
            <a:r>
              <a:rPr sz="2000" spc="-25" dirty="0">
                <a:latin typeface="Calibri"/>
                <a:cs typeface="Calibri"/>
              </a:rPr>
              <a:t>Use</a:t>
            </a:r>
            <a:endParaRPr sz="2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244"/>
              </a:spcBef>
            </a:pPr>
            <a:r>
              <a:rPr sz="2000" spc="-50" dirty="0">
                <a:latin typeface="Calibri"/>
                <a:cs typeface="Calibri"/>
              </a:rPr>
              <a:t>↓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latin typeface="Calibri"/>
                <a:cs typeface="Calibri"/>
              </a:rPr>
              <a:t>Archive</a:t>
            </a:r>
            <a:endParaRPr sz="2000">
              <a:latin typeface="Calibri"/>
              <a:cs typeface="Calibri"/>
            </a:endParaRPr>
          </a:p>
          <a:p>
            <a:pPr marL="12700" marR="2240280" indent="170180">
              <a:lnSpc>
                <a:spcPct val="110000"/>
              </a:lnSpc>
            </a:pPr>
            <a:r>
              <a:rPr sz="2000" spc="-50" dirty="0">
                <a:latin typeface="Calibri"/>
                <a:cs typeface="Calibri"/>
              </a:rPr>
              <a:t>↓ </a:t>
            </a:r>
            <a:r>
              <a:rPr sz="2000" spc="-20" dirty="0">
                <a:latin typeface="Calibri"/>
                <a:cs typeface="Calibri"/>
              </a:rPr>
              <a:t>Delete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527" y="2409570"/>
            <a:ext cx="3820795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dirty="0">
                <a:latin typeface="Calibri"/>
                <a:cs typeface="Calibri"/>
              </a:rPr>
              <a:t>Why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Matters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Reduced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storage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costs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Compliance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regulations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Improved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security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94130"/>
            <a:ext cx="62414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Quality</a:t>
            </a:r>
            <a:r>
              <a:rPr spc="-8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Integrity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69389"/>
            <a:ext cx="4881880" cy="4144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Importance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Data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Quality: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Quality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Accuracy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5454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Completeness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Consistency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Timeliness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Reliability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Integrity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5454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Ensures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remains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correct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secure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Prevents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unauthorized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changes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Supports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reliable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decision-making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29482" y="651128"/>
            <a:ext cx="25679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4751"/>
            <a:ext cx="8036559" cy="3963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Key</a:t>
            </a:r>
            <a:r>
              <a:rPr sz="3000" b="1" spc="-114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Takeaways: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30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Structured,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Semi-structured,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Unstructured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Organizations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Internal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External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sources.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20" dirty="0">
                <a:latin typeface="Calibri"/>
                <a:cs typeface="Calibri"/>
              </a:rPr>
              <a:t>Various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effectively.</a:t>
            </a:r>
            <a:endParaRPr sz="2400">
              <a:latin typeface="Calibri"/>
              <a:cs typeface="Calibri"/>
            </a:endParaRPr>
          </a:p>
          <a:p>
            <a:pPr marL="286385" marR="1210310" indent="-274320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Lifecycle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Creation,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Storage,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Usage, </a:t>
            </a:r>
            <a:r>
              <a:rPr sz="2400" dirty="0">
                <a:latin typeface="Calibri"/>
                <a:cs typeface="Calibri"/>
              </a:rPr>
              <a:t>Archiving,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Deletion.</a:t>
            </a:r>
            <a:endParaRPr sz="2400">
              <a:latin typeface="Calibri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High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Quality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Integrity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essential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accurate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8553" y="679145"/>
            <a:ext cx="807974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1075" marR="5080" indent="-3509010">
              <a:lnSpc>
                <a:spcPct val="100000"/>
              </a:lnSpc>
              <a:spcBef>
                <a:spcPts val="100"/>
              </a:spcBef>
            </a:pPr>
            <a:r>
              <a:rPr dirty="0"/>
              <a:t>3:Introduction</a:t>
            </a:r>
            <a:r>
              <a:rPr spc="-105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dirty="0"/>
              <a:t>Business</a:t>
            </a:r>
            <a:r>
              <a:rPr spc="-75" dirty="0"/>
              <a:t> </a:t>
            </a:r>
            <a:r>
              <a:rPr spc="-10" dirty="0"/>
              <a:t>Analyst</a:t>
            </a:r>
            <a:r>
              <a:rPr u="none" spc="-10" dirty="0"/>
              <a:t> </a:t>
            </a:r>
            <a:r>
              <a:rPr spc="-20" dirty="0"/>
              <a:t>Role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62885"/>
            <a:ext cx="7691120" cy="325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What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is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Business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Analyst?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30"/>
              </a:spcBef>
            </a:pPr>
            <a:r>
              <a:rPr sz="2900" b="1" dirty="0">
                <a:latin typeface="Calibri"/>
                <a:cs typeface="Calibri"/>
              </a:rPr>
              <a:t>Definition</a:t>
            </a:r>
            <a:r>
              <a:rPr sz="2900" b="1" spc="-6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of</a:t>
            </a:r>
            <a:r>
              <a:rPr sz="2900" b="1" spc="-1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a</a:t>
            </a:r>
            <a:r>
              <a:rPr sz="2900" b="1" spc="-2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Business</a:t>
            </a:r>
            <a:r>
              <a:rPr sz="2900" b="1" spc="-35" dirty="0">
                <a:latin typeface="Calibri"/>
                <a:cs typeface="Calibri"/>
              </a:rPr>
              <a:t> </a:t>
            </a:r>
            <a:r>
              <a:rPr sz="2900" b="1" spc="-10" dirty="0">
                <a:latin typeface="Calibri"/>
                <a:cs typeface="Calibri"/>
              </a:rPr>
              <a:t>Analyst</a:t>
            </a:r>
            <a:endParaRPr sz="2900">
              <a:latin typeface="Calibri"/>
              <a:cs typeface="Calibri"/>
            </a:endParaRPr>
          </a:p>
          <a:p>
            <a:pPr marL="286385" marR="5080" indent="-274320">
              <a:lnSpc>
                <a:spcPct val="80000"/>
              </a:lnSpc>
              <a:spcBef>
                <a:spcPts val="3454"/>
              </a:spcBef>
              <a:buClr>
                <a:srgbClr val="0AD0D9"/>
              </a:buClr>
              <a:buSzPct val="93478"/>
              <a:buFont typeface="Wingdings 2"/>
              <a:buChar char=""/>
              <a:tabLst>
                <a:tab pos="286385" algn="l"/>
              </a:tabLst>
            </a:pPr>
            <a:r>
              <a:rPr sz="2300" dirty="0">
                <a:latin typeface="Calibri"/>
                <a:cs typeface="Calibri"/>
              </a:rPr>
              <a:t>A</a:t>
            </a:r>
            <a:r>
              <a:rPr sz="2300" spc="10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Business</a:t>
            </a:r>
            <a:r>
              <a:rPr sz="2900" b="1" spc="-5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Analyst</a:t>
            </a:r>
            <a:r>
              <a:rPr sz="2900" b="1" spc="-2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(BA)</a:t>
            </a:r>
            <a:r>
              <a:rPr sz="2900" b="1" spc="-3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is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professional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who </a:t>
            </a:r>
            <a:r>
              <a:rPr sz="2900" dirty="0">
                <a:latin typeface="Calibri"/>
                <a:cs typeface="Calibri"/>
              </a:rPr>
              <a:t>identifies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business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needs,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analyzes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problems,</a:t>
            </a:r>
            <a:r>
              <a:rPr sz="2900" spc="-90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and </a:t>
            </a:r>
            <a:r>
              <a:rPr sz="2900" dirty="0">
                <a:latin typeface="Calibri"/>
                <a:cs typeface="Calibri"/>
              </a:rPr>
              <a:t>recommends</a:t>
            </a:r>
            <a:r>
              <a:rPr sz="2900" spc="-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solutions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improve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business </a:t>
            </a:r>
            <a:r>
              <a:rPr sz="2900" dirty="0">
                <a:latin typeface="Calibri"/>
                <a:cs typeface="Calibri"/>
              </a:rPr>
              <a:t>processes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achieve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organizational</a:t>
            </a:r>
            <a:r>
              <a:rPr sz="2900" spc="-14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goals</a:t>
            </a:r>
            <a:r>
              <a:rPr sz="2300" spc="-1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4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2555"/>
            <a:ext cx="5663565" cy="240347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Bridge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gap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Understand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requirements.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Improve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performance.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Support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decision-making.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Deliver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stakeholders.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53157" y="536828"/>
            <a:ext cx="472313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marR="5080" indent="-387350">
              <a:lnSpc>
                <a:spcPct val="100000"/>
              </a:lnSpc>
              <a:spcBef>
                <a:spcPts val="100"/>
              </a:spcBef>
            </a:pPr>
            <a:r>
              <a:rPr dirty="0"/>
              <a:t>Responsibilities</a:t>
            </a:r>
            <a:r>
              <a:rPr spc="-12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50" dirty="0"/>
              <a:t>a</a:t>
            </a:r>
            <a:r>
              <a:rPr u="none" spc="-50" dirty="0"/>
              <a:t> </a:t>
            </a:r>
            <a:r>
              <a:rPr dirty="0"/>
              <a:t>Business</a:t>
            </a:r>
            <a:r>
              <a:rPr spc="-195" dirty="0"/>
              <a:t> </a:t>
            </a:r>
            <a:r>
              <a:rPr spc="-10" dirty="0"/>
              <a:t>Analyst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47798"/>
            <a:ext cx="6448425" cy="38303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Gather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document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requirements.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Analyze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processes.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opportunities.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Recommend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solutions.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Communicate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stakeholders.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Support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implementation.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55" dirty="0">
                <a:latin typeface="Calibri"/>
                <a:cs typeface="Calibri"/>
              </a:rPr>
              <a:t>Test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solutions.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Monitor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outcomes.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476" y="894079"/>
            <a:ext cx="727455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40" dirty="0"/>
              <a:t> </a:t>
            </a:r>
            <a:r>
              <a:rPr dirty="0"/>
              <a:t>Skills</a:t>
            </a:r>
            <a:r>
              <a:rPr spc="-135" dirty="0"/>
              <a:t> </a:t>
            </a:r>
            <a:r>
              <a:rPr dirty="0"/>
              <a:t>for</a:t>
            </a:r>
            <a:r>
              <a:rPr spc="-135" dirty="0"/>
              <a:t> </a:t>
            </a:r>
            <a:r>
              <a:rPr dirty="0"/>
              <a:t>Business</a:t>
            </a:r>
            <a:r>
              <a:rPr spc="-120" dirty="0"/>
              <a:t> </a:t>
            </a:r>
            <a:r>
              <a:rPr spc="-10" dirty="0"/>
              <a:t>Analysts</a:t>
            </a:r>
            <a:r>
              <a:rPr u="none" spc="-10" dirty="0"/>
              <a:t> </a:t>
            </a:r>
            <a:r>
              <a:rPr dirty="0"/>
              <a:t>Essential</a:t>
            </a:r>
            <a:r>
              <a:rPr spc="-185" dirty="0"/>
              <a:t> </a:t>
            </a:r>
            <a:r>
              <a:rPr spc="-10" dirty="0"/>
              <a:t>Skills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288" y="2329332"/>
            <a:ext cx="1835150" cy="14890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latin typeface="Calibri"/>
                <a:cs typeface="Calibri"/>
              </a:rPr>
              <a:t>Communication</a:t>
            </a:r>
            <a:r>
              <a:rPr sz="1600" b="1" spc="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Skills</a:t>
            </a:r>
            <a:endParaRPr sz="1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020" algn="l"/>
              </a:tabLst>
            </a:pPr>
            <a:r>
              <a:rPr sz="1600" dirty="0">
                <a:latin typeface="Calibri"/>
                <a:cs typeface="Calibri"/>
              </a:rPr>
              <a:t>Active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listening</a:t>
            </a:r>
            <a:endParaRPr sz="1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020" algn="l"/>
              </a:tabLst>
            </a:pPr>
            <a:r>
              <a:rPr sz="1600" dirty="0">
                <a:latin typeface="Calibri"/>
                <a:cs typeface="Calibri"/>
              </a:rPr>
              <a:t>Clear </a:t>
            </a:r>
            <a:r>
              <a:rPr sz="1600" spc="-10" dirty="0">
                <a:latin typeface="Calibri"/>
                <a:cs typeface="Calibri"/>
              </a:rPr>
              <a:t>presentation</a:t>
            </a:r>
            <a:endParaRPr sz="1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020" algn="l"/>
              </a:tabLst>
            </a:pPr>
            <a:r>
              <a:rPr sz="1600" dirty="0">
                <a:latin typeface="Calibri"/>
                <a:cs typeface="Calibri"/>
              </a:rPr>
              <a:t>Report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writing</a:t>
            </a:r>
            <a:endParaRPr sz="1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020" algn="l"/>
              </a:tabLst>
            </a:pPr>
            <a:r>
              <a:rPr sz="1600" spc="-10" dirty="0">
                <a:latin typeface="Calibri"/>
                <a:cs typeface="Calibri"/>
              </a:rPr>
              <a:t>Negotiation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8940" y="3792753"/>
            <a:ext cx="1917064" cy="14890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latin typeface="Calibri"/>
                <a:cs typeface="Calibri"/>
              </a:rPr>
              <a:t>Analytical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Thinking</a:t>
            </a:r>
            <a:endParaRPr sz="1600">
              <a:latin typeface="Calibri"/>
              <a:cs typeface="Calibri"/>
            </a:endParaRPr>
          </a:p>
          <a:p>
            <a:pPr marL="559435" indent="-274320">
              <a:lnSpc>
                <a:spcPct val="100000"/>
              </a:lnSpc>
              <a:spcBef>
                <a:spcPts val="3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559435" algn="l"/>
              </a:tabLst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analysis</a:t>
            </a:r>
            <a:endParaRPr sz="1600">
              <a:latin typeface="Calibri"/>
              <a:cs typeface="Calibri"/>
            </a:endParaRPr>
          </a:p>
          <a:p>
            <a:pPr marL="454025" indent="-274320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454025" algn="l"/>
              </a:tabLst>
            </a:pPr>
            <a:r>
              <a:rPr sz="1600" dirty="0">
                <a:latin typeface="Calibri"/>
                <a:cs typeface="Calibri"/>
              </a:rPr>
              <a:t>Critical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thinking</a:t>
            </a:r>
            <a:endParaRPr sz="1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1600" dirty="0">
                <a:latin typeface="Calibri"/>
                <a:cs typeface="Calibri"/>
              </a:rPr>
              <a:t>Identifying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patterns</a:t>
            </a:r>
            <a:endParaRPr sz="1600">
              <a:latin typeface="Calibri"/>
              <a:cs typeface="Calibri"/>
            </a:endParaRPr>
          </a:p>
          <a:p>
            <a:pPr marL="415925" lvl="1" indent="-274320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415925" algn="l"/>
              </a:tabLst>
            </a:pPr>
            <a:r>
              <a:rPr sz="1600" spc="-10" dirty="0">
                <a:latin typeface="Calibri"/>
                <a:cs typeface="Calibri"/>
              </a:rPr>
              <a:t>Decision-making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8805" y="5256021"/>
            <a:ext cx="2404745" cy="14890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latin typeface="Calibri"/>
                <a:cs typeface="Calibri"/>
              </a:rPr>
              <a:t>Problem-Solving</a:t>
            </a:r>
            <a:endParaRPr sz="1600">
              <a:latin typeface="Calibri"/>
              <a:cs typeface="Calibri"/>
            </a:endParaRPr>
          </a:p>
          <a:p>
            <a:pPr marL="273685" marR="8255" indent="-273685" algn="r">
              <a:lnSpc>
                <a:spcPct val="100000"/>
              </a:lnSpc>
              <a:spcBef>
                <a:spcPts val="384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73685" algn="l"/>
              </a:tabLst>
            </a:pPr>
            <a:r>
              <a:rPr sz="1600" dirty="0">
                <a:latin typeface="Calibri"/>
                <a:cs typeface="Calibri"/>
              </a:rPr>
              <a:t>Root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cause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analysis</a:t>
            </a:r>
            <a:endParaRPr sz="1600">
              <a:latin typeface="Calibri"/>
              <a:cs typeface="Calibri"/>
            </a:endParaRPr>
          </a:p>
          <a:p>
            <a:pPr marL="273685" marR="9525" lvl="1" indent="-273685" algn="r">
              <a:lnSpc>
                <a:spcPct val="100000"/>
              </a:lnSpc>
              <a:spcBef>
                <a:spcPts val="3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73685" algn="l"/>
              </a:tabLst>
            </a:pPr>
            <a:r>
              <a:rPr sz="1600" spc="-10" dirty="0">
                <a:latin typeface="Calibri"/>
                <a:cs typeface="Calibri"/>
              </a:rPr>
              <a:t>Creative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solutions</a:t>
            </a:r>
            <a:endParaRPr sz="1600">
              <a:latin typeface="Calibri"/>
              <a:cs typeface="Calibri"/>
            </a:endParaRPr>
          </a:p>
          <a:p>
            <a:pPr marL="273685" marR="8255" lvl="2" indent="-273685" algn="r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73685" algn="l"/>
              </a:tabLst>
            </a:pPr>
            <a:r>
              <a:rPr sz="1600" dirty="0">
                <a:latin typeface="Calibri"/>
                <a:cs typeface="Calibri"/>
              </a:rPr>
              <a:t>Risk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assessment</a:t>
            </a:r>
            <a:endParaRPr sz="1600">
              <a:latin typeface="Calibri"/>
              <a:cs typeface="Calibri"/>
            </a:endParaRPr>
          </a:p>
          <a:p>
            <a:pPr marL="273685" marR="5080" indent="-273685" algn="r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73685" algn="l"/>
              </a:tabLst>
            </a:pPr>
            <a:r>
              <a:rPr sz="1600" dirty="0">
                <a:latin typeface="Calibri"/>
                <a:cs typeface="Calibri"/>
              </a:rPr>
              <a:t>Continuous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improvement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679145"/>
            <a:ext cx="757428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spc="-125" dirty="0"/>
              <a:t> </a:t>
            </a:r>
            <a:r>
              <a:rPr dirty="0"/>
              <a:t>Important</a:t>
            </a:r>
            <a:r>
              <a:rPr spc="-125" dirty="0"/>
              <a:t> </a:t>
            </a:r>
            <a:r>
              <a:rPr spc="-10" dirty="0"/>
              <a:t>Skills</a:t>
            </a:r>
            <a:r>
              <a:rPr u="none" spc="1125" dirty="0"/>
              <a:t> </a:t>
            </a:r>
            <a:r>
              <a:rPr spc="-25" dirty="0"/>
              <a:t>Technical</a:t>
            </a:r>
            <a:r>
              <a:rPr spc="-150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10" dirty="0"/>
              <a:t>Professional</a:t>
            </a:r>
            <a:r>
              <a:rPr spc="-135" dirty="0"/>
              <a:t> </a:t>
            </a:r>
            <a:r>
              <a:rPr spc="-10" dirty="0"/>
              <a:t>Skills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33929"/>
            <a:ext cx="3912235" cy="38303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Requirement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gathering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Documentation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modeling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Microsoft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Excel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&amp;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Power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BI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SQL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basics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Time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management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Teamwork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Leadership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5848" y="692911"/>
            <a:ext cx="625792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Business</a:t>
            </a:r>
            <a:r>
              <a:rPr sz="3600" spc="-114" dirty="0"/>
              <a:t> </a:t>
            </a:r>
            <a:r>
              <a:rPr sz="3600" dirty="0"/>
              <a:t>Analysis</a:t>
            </a:r>
            <a:r>
              <a:rPr sz="3600" spc="-95" dirty="0"/>
              <a:t> </a:t>
            </a:r>
            <a:r>
              <a:rPr sz="3600" spc="-10" dirty="0"/>
              <a:t>Methodologies</a:t>
            </a:r>
            <a:r>
              <a:rPr sz="3600" u="none" spc="-10" dirty="0"/>
              <a:t> </a:t>
            </a:r>
            <a:r>
              <a:rPr sz="3600" dirty="0"/>
              <a:t>Common</a:t>
            </a:r>
            <a:r>
              <a:rPr sz="3600" spc="-50" dirty="0"/>
              <a:t> </a:t>
            </a:r>
            <a:r>
              <a:rPr sz="3600" spc="-10" dirty="0"/>
              <a:t>Methodologies</a:t>
            </a:r>
            <a:endParaRPr sz="3600"/>
          </a:p>
          <a:p>
            <a:pPr marL="12700">
              <a:lnSpc>
                <a:spcPct val="100000"/>
              </a:lnSpc>
            </a:pPr>
            <a:r>
              <a:rPr sz="3600" spc="-10" dirty="0"/>
              <a:t>Agile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07288" y="2505913"/>
            <a:ext cx="3921125" cy="3322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Agile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Flexible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iterative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Frequent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feedback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Continuous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improvement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ts val="2385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Suitable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3345"/>
              </a:lnSpc>
            </a:pPr>
            <a:r>
              <a:rPr sz="2800" b="1" spc="-10" dirty="0">
                <a:latin typeface="Calibri"/>
                <a:cs typeface="Calibri"/>
              </a:rPr>
              <a:t>Waterfall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Sequential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spc="-30" dirty="0">
                <a:latin typeface="Calibri"/>
                <a:cs typeface="Calibri"/>
              </a:rPr>
              <a:t>Well-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phases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Easy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documentation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Best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stable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u="none" dirty="0">
                <a:latin typeface="Calibri"/>
                <a:cs typeface="Calibri"/>
              </a:rPr>
              <a:t>Agile</a:t>
            </a:r>
            <a:r>
              <a:rPr i="0" u="none" spc="-55" dirty="0">
                <a:latin typeface="Calibri"/>
                <a:cs typeface="Calibri"/>
              </a:rPr>
              <a:t> </a:t>
            </a:r>
            <a:r>
              <a:rPr i="0" u="none" dirty="0">
                <a:latin typeface="Calibri"/>
                <a:cs typeface="Calibri"/>
              </a:rPr>
              <a:t>vs</a:t>
            </a:r>
            <a:r>
              <a:rPr i="0" u="none" spc="-35" dirty="0">
                <a:latin typeface="Calibri"/>
                <a:cs typeface="Calibri"/>
              </a:rPr>
              <a:t> </a:t>
            </a:r>
            <a:r>
              <a:rPr i="0" u="none" spc="-10" dirty="0">
                <a:latin typeface="Calibri"/>
                <a:cs typeface="Calibri"/>
              </a:rPr>
              <a:t>Waterfall</a:t>
            </a:r>
          </a:p>
          <a:p>
            <a:pPr marL="12700">
              <a:lnSpc>
                <a:spcPct val="100000"/>
              </a:lnSpc>
            </a:pPr>
            <a:r>
              <a:rPr i="0" u="none" dirty="0">
                <a:latin typeface="Calibri"/>
                <a:cs typeface="Calibri"/>
              </a:rPr>
              <a:t>Comparison</a:t>
            </a:r>
            <a:r>
              <a:rPr i="0" u="none" spc="-120" dirty="0">
                <a:latin typeface="Calibri"/>
                <a:cs typeface="Calibri"/>
              </a:rPr>
              <a:t> </a:t>
            </a:r>
            <a:r>
              <a:rPr i="0" u="none" dirty="0">
                <a:latin typeface="Calibri"/>
                <a:cs typeface="Calibri"/>
              </a:rPr>
              <a:t>of</a:t>
            </a:r>
            <a:r>
              <a:rPr i="0" u="none" spc="-110" dirty="0">
                <a:latin typeface="Calibri"/>
                <a:cs typeface="Calibri"/>
              </a:rPr>
              <a:t> </a:t>
            </a:r>
            <a:r>
              <a:rPr i="0" u="none" spc="-10" dirty="0">
                <a:latin typeface="Calibri"/>
                <a:cs typeface="Calibri"/>
              </a:rPr>
              <a:t>Methodologies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7937" y="2490089"/>
          <a:ext cx="8447405" cy="386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8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0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Agile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2501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BC9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Waterfall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2501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BC9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30" dirty="0">
                          <a:latin typeface="Constantia"/>
                          <a:cs typeface="Constantia"/>
                        </a:rPr>
                        <a:t>Iterative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approach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B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Sequential</a:t>
                      </a:r>
                      <a:r>
                        <a:rPr sz="1800" spc="-4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approach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Flexible</a:t>
                      </a:r>
                      <a:r>
                        <a:rPr sz="18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requirements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6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Fixed</a:t>
                      </a:r>
                      <a:r>
                        <a:rPr sz="18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requirements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20" dirty="0">
                          <a:latin typeface="Constantia"/>
                          <a:cs typeface="Constantia"/>
                        </a:rPr>
                        <a:t>Frequent</a:t>
                      </a:r>
                      <a:r>
                        <a:rPr sz="1800" spc="-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customer</a:t>
                      </a:r>
                      <a:r>
                        <a:rPr sz="1800" spc="-5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feedback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B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20" dirty="0">
                          <a:latin typeface="Constantia"/>
                          <a:cs typeface="Constantia"/>
                        </a:rPr>
                        <a:t>Feedback</a:t>
                      </a:r>
                      <a:r>
                        <a:rPr sz="18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at</a:t>
                      </a:r>
                      <a:r>
                        <a:rPr sz="18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project</a:t>
                      </a:r>
                      <a:r>
                        <a:rPr sz="1800" spc="-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completion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25" dirty="0">
                          <a:latin typeface="Constantia"/>
                          <a:cs typeface="Constantia"/>
                        </a:rPr>
                        <a:t>Faster</a:t>
                      </a:r>
                      <a:r>
                        <a:rPr sz="1800" spc="-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delivery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6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20" dirty="0">
                          <a:latin typeface="Constantia"/>
                          <a:cs typeface="Constantia"/>
                        </a:rPr>
                        <a:t>Longer</a:t>
                      </a:r>
                      <a:r>
                        <a:rPr sz="18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delivery</a:t>
                      </a:r>
                      <a:r>
                        <a:rPr sz="18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time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Suitable</a:t>
                      </a:r>
                      <a:r>
                        <a:rPr sz="18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for</a:t>
                      </a:r>
                      <a:r>
                        <a:rPr sz="1800" spc="-1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dynamic</a:t>
                      </a:r>
                      <a:r>
                        <a:rPr sz="1800" spc="-7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projects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B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Suitable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for</a:t>
                      </a:r>
                      <a:r>
                        <a:rPr sz="1800" spc="-1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predictable</a:t>
                      </a:r>
                      <a:r>
                        <a:rPr sz="1800" spc="-1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projects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94130"/>
            <a:ext cx="62020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Stakeholder</a:t>
            </a:r>
            <a:r>
              <a:rPr spc="-19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68118"/>
            <a:ext cx="7731759" cy="43065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600" b="1" dirty="0">
                <a:latin typeface="Calibri"/>
                <a:cs typeface="Calibri"/>
              </a:rPr>
              <a:t>Who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are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Stakeholders?</a:t>
            </a:r>
            <a:endParaRPr sz="2600">
              <a:latin typeface="Calibri"/>
              <a:cs typeface="Calibri"/>
            </a:endParaRPr>
          </a:p>
          <a:p>
            <a:pPr marL="286385" marR="5080" indent="-274320">
              <a:lnSpc>
                <a:spcPts val="2810"/>
              </a:lnSpc>
              <a:spcBef>
                <a:spcPts val="66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Stakeholders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individuals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groups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affected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influence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project.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600" b="1" spc="-10" dirty="0">
                <a:latin typeface="Calibri"/>
                <a:cs typeface="Calibri"/>
              </a:rPr>
              <a:t>Examples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Customers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Managers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Developers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Owners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Employees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Investors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304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Stakeholder</a:t>
            </a:r>
            <a:r>
              <a:rPr spc="-195" dirty="0"/>
              <a:t> </a:t>
            </a:r>
            <a:r>
              <a:rPr spc="-10" dirty="0"/>
              <a:t>Management</a:t>
            </a:r>
            <a:r>
              <a:rPr u="none" spc="-10" dirty="0"/>
              <a:t> </a:t>
            </a:r>
            <a:r>
              <a:rPr spc="-10" dirty="0"/>
              <a:t>Activities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6427" y="2796603"/>
            <a:ext cx="3834765" cy="2630805"/>
            <a:chOff x="376427" y="2796603"/>
            <a:chExt cx="3834765" cy="2630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" y="2857563"/>
              <a:ext cx="540804" cy="6139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19" y="2796603"/>
              <a:ext cx="3230753" cy="7282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" y="3333051"/>
              <a:ext cx="540804" cy="6139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219" y="3272091"/>
              <a:ext cx="3593465" cy="7282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" y="3808539"/>
              <a:ext cx="540804" cy="6139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19" y="3747579"/>
              <a:ext cx="3550666" cy="7282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" y="4284027"/>
              <a:ext cx="540804" cy="6139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219" y="4223067"/>
              <a:ext cx="3303778" cy="7282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427" y="4759515"/>
              <a:ext cx="540804" cy="61398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219" y="4698555"/>
              <a:ext cx="2648585" cy="72828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35940" y="2791557"/>
            <a:ext cx="3463290" cy="24028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stakeholders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Understand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needs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Communicate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regularly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Manage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expectations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Resolve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conflicts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17875" y="722503"/>
            <a:ext cx="261302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10" dirty="0">
                <a:latin typeface="Calibri"/>
                <a:cs typeface="Calibri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55632"/>
            <a:ext cx="7825105" cy="41617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800" b="1" dirty="0">
                <a:latin typeface="Calibri"/>
                <a:cs typeface="Calibri"/>
              </a:rPr>
              <a:t>Key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Takeaways:</a:t>
            </a:r>
            <a:endParaRPr sz="2800">
              <a:latin typeface="Calibri"/>
              <a:cs typeface="Calibri"/>
            </a:endParaRPr>
          </a:p>
          <a:p>
            <a:pPr marL="286385" marR="5080" indent="-274320">
              <a:lnSpc>
                <a:spcPts val="2590"/>
              </a:lnSpc>
              <a:spcBef>
                <a:spcPts val="64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Business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Analyst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technology solutions.</a:t>
            </a:r>
            <a:endParaRPr sz="2400">
              <a:latin typeface="Calibri"/>
              <a:cs typeface="Calibri"/>
            </a:endParaRPr>
          </a:p>
          <a:p>
            <a:pPr marL="286385" marR="229870" indent="-274320">
              <a:lnSpc>
                <a:spcPts val="259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gathering,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communication.</a:t>
            </a:r>
            <a:endParaRPr sz="2400">
              <a:latin typeface="Calibri"/>
              <a:cs typeface="Calibri"/>
            </a:endParaRPr>
          </a:p>
          <a:p>
            <a:pPr marL="286385" marR="513080" indent="-274320">
              <a:lnSpc>
                <a:spcPts val="2590"/>
              </a:lnSpc>
              <a:spcBef>
                <a:spcPts val="5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Strong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communication,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thinking,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problem-</a:t>
            </a:r>
            <a:r>
              <a:rPr sz="2400" dirty="0">
                <a:latin typeface="Calibri"/>
                <a:cs typeface="Calibri"/>
              </a:rPr>
              <a:t>solving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skills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essential.</a:t>
            </a:r>
            <a:endParaRPr sz="2400">
              <a:latin typeface="Calibri"/>
              <a:cs typeface="Calibri"/>
            </a:endParaRPr>
          </a:p>
          <a:p>
            <a:pPr marL="286385" marR="953769" indent="-274320">
              <a:lnSpc>
                <a:spcPts val="259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dirty="0">
                <a:latin typeface="Calibri"/>
                <a:cs typeface="Calibri"/>
              </a:rPr>
              <a:t>Agile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Waterfall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 methodologies.</a:t>
            </a:r>
            <a:endParaRPr sz="2400">
              <a:latin typeface="Calibri"/>
              <a:cs typeface="Calibri"/>
            </a:endParaRPr>
          </a:p>
          <a:p>
            <a:pPr marL="286385" marR="730885" indent="-274320">
              <a:lnSpc>
                <a:spcPts val="259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20" dirty="0">
                <a:latin typeface="Calibri"/>
                <a:cs typeface="Calibri"/>
              </a:rPr>
              <a:t>Effective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stakeholder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 success.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65147" y="798398"/>
            <a:ext cx="494030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i="0" u="none" dirty="0">
                <a:latin typeface="Calibri"/>
                <a:cs typeface="Calibri"/>
              </a:rPr>
              <a:t>4:</a:t>
            </a:r>
            <a:r>
              <a:rPr b="0" i="0" u="none" spc="-70" dirty="0">
                <a:latin typeface="Calibri"/>
                <a:cs typeface="Calibri"/>
              </a:rPr>
              <a:t> </a:t>
            </a:r>
            <a:r>
              <a:rPr sz="4000" dirty="0"/>
              <a:t>Data</a:t>
            </a:r>
            <a:r>
              <a:rPr sz="4000" spc="-50" dirty="0"/>
              <a:t> </a:t>
            </a:r>
            <a:r>
              <a:rPr sz="4000" dirty="0"/>
              <a:t>vs.</a:t>
            </a:r>
            <a:r>
              <a:rPr sz="4000" spc="-55" dirty="0"/>
              <a:t> </a:t>
            </a:r>
            <a:r>
              <a:rPr sz="4000" spc="-10" dirty="0"/>
              <a:t>Information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8012430" cy="4882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1" dirty="0">
                <a:solidFill>
                  <a:srgbClr val="04607A"/>
                </a:solidFill>
                <a:latin typeface="Calibri"/>
                <a:cs typeface="Calibri"/>
              </a:rPr>
              <a:t>What</a:t>
            </a:r>
            <a:r>
              <a:rPr sz="3500" b="1" spc="-5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4607A"/>
                </a:solidFill>
                <a:latin typeface="Calibri"/>
                <a:cs typeface="Calibri"/>
              </a:rPr>
              <a:t>is</a:t>
            </a:r>
            <a:r>
              <a:rPr sz="3500" b="1" spc="-3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3500" b="1" spc="-10" dirty="0">
                <a:solidFill>
                  <a:srgbClr val="04607A"/>
                </a:solidFill>
                <a:latin typeface="Calibri"/>
                <a:cs typeface="Calibri"/>
              </a:rPr>
              <a:t>Data?</a:t>
            </a:r>
            <a:endParaRPr sz="3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400" b="1" dirty="0">
                <a:latin typeface="Calibri"/>
                <a:cs typeface="Calibri"/>
              </a:rPr>
              <a:t>Definition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Data:</a:t>
            </a:r>
            <a:endParaRPr sz="2400">
              <a:latin typeface="Calibri"/>
              <a:cs typeface="Calibri"/>
            </a:endParaRPr>
          </a:p>
          <a:p>
            <a:pPr marL="286385" marR="5080" indent="-274320">
              <a:lnSpc>
                <a:spcPts val="2300"/>
              </a:lnSpc>
              <a:spcBef>
                <a:spcPts val="56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raw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facts,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figures,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observations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analyzed.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-10" dirty="0">
                <a:latin typeface="Calibri"/>
                <a:cs typeface="Calibri"/>
              </a:rPr>
              <a:t>Characteristics: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Raw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unorganized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May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symbols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Collected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sources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little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itself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marks: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78,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82,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91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Daily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figures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79475"/>
            <a:ext cx="561022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i="0" u="none" dirty="0">
                <a:latin typeface="Calibri"/>
                <a:cs typeface="Calibri"/>
              </a:rPr>
              <a:t>What</a:t>
            </a:r>
            <a:r>
              <a:rPr sz="5000" i="0" u="none" spc="-55" dirty="0">
                <a:latin typeface="Calibri"/>
                <a:cs typeface="Calibri"/>
              </a:rPr>
              <a:t> </a:t>
            </a:r>
            <a:r>
              <a:rPr sz="5000" i="0" u="none" dirty="0">
                <a:latin typeface="Calibri"/>
                <a:cs typeface="Calibri"/>
              </a:rPr>
              <a:t>is</a:t>
            </a:r>
            <a:r>
              <a:rPr sz="5000" i="0" u="none" spc="-45" dirty="0">
                <a:latin typeface="Calibri"/>
                <a:cs typeface="Calibri"/>
              </a:rPr>
              <a:t> </a:t>
            </a:r>
            <a:r>
              <a:rPr sz="5000" i="0" u="none" spc="-10" dirty="0">
                <a:latin typeface="Calibri"/>
                <a:cs typeface="Calibri"/>
              </a:rPr>
              <a:t>Information?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288" y="1805432"/>
            <a:ext cx="8081645" cy="4342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Definition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ts val="2595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processed,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organized,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meaningful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  <a:p>
            <a:pPr marL="28702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situations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Characteristics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Organized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structured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Easy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decision-making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context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Average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score: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84%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Monthly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purchase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summary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2954" y="679145"/>
            <a:ext cx="488188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1230" marR="5080" indent="-939165">
              <a:lnSpc>
                <a:spcPct val="100000"/>
              </a:lnSpc>
              <a:spcBef>
                <a:spcPts val="100"/>
              </a:spcBef>
            </a:pPr>
            <a:r>
              <a:rPr i="0" u="none" dirty="0">
                <a:latin typeface="Calibri"/>
                <a:cs typeface="Calibri"/>
              </a:rPr>
              <a:t>Data</a:t>
            </a:r>
            <a:r>
              <a:rPr i="0" u="none" spc="-114" dirty="0">
                <a:latin typeface="Calibri"/>
                <a:cs typeface="Calibri"/>
              </a:rPr>
              <a:t> </a:t>
            </a:r>
            <a:r>
              <a:rPr i="0" u="none" dirty="0">
                <a:latin typeface="Calibri"/>
                <a:cs typeface="Calibri"/>
              </a:rPr>
              <a:t>vs.</a:t>
            </a:r>
            <a:r>
              <a:rPr i="0" u="none" spc="-120" dirty="0">
                <a:latin typeface="Calibri"/>
                <a:cs typeface="Calibri"/>
              </a:rPr>
              <a:t> </a:t>
            </a:r>
            <a:r>
              <a:rPr i="0" u="none" spc="-10" dirty="0">
                <a:latin typeface="Calibri"/>
                <a:cs typeface="Calibri"/>
              </a:rPr>
              <a:t>Information 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351151"/>
          <a:ext cx="8347075" cy="3070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9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Data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Information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Raw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facts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Processed</a:t>
                      </a:r>
                      <a:r>
                        <a:rPr sz="18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data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Unorganized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Organizeeed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30" dirty="0">
                          <a:latin typeface="Constantia"/>
                          <a:cs typeface="Constantia"/>
                        </a:rPr>
                        <a:t>No</a:t>
                      </a:r>
                      <a:r>
                        <a:rPr sz="18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context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Meaningful</a:t>
                      </a:r>
                      <a:r>
                        <a:rPr sz="18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context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dirty="0">
                          <a:latin typeface="Constantia"/>
                          <a:cs typeface="Constantia"/>
                        </a:rPr>
                        <a:t>Input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for</a:t>
                      </a:r>
                      <a:r>
                        <a:rPr sz="18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processing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Output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after</a:t>
                      </a:r>
                      <a:r>
                        <a:rPr sz="1800" spc="-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processing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10" dirty="0">
                          <a:latin typeface="Constantia"/>
                          <a:cs typeface="Constantia"/>
                        </a:rPr>
                        <a:t>Limited</a:t>
                      </a:r>
                      <a:r>
                        <a:rPr sz="1800" spc="-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20" dirty="0">
                          <a:latin typeface="Constantia"/>
                          <a:cs typeface="Constantia"/>
                        </a:rPr>
                        <a:t>value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20" dirty="0">
                          <a:latin typeface="Constantia"/>
                          <a:cs typeface="Constantia"/>
                        </a:rPr>
                        <a:t>High</a:t>
                      </a:r>
                      <a:r>
                        <a:rPr sz="18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dirty="0">
                          <a:latin typeface="Constantia"/>
                          <a:cs typeface="Constantia"/>
                        </a:rPr>
                        <a:t>value</a:t>
                      </a:r>
                      <a:r>
                        <a:rPr sz="18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for</a:t>
                      </a:r>
                      <a:r>
                        <a:rPr sz="1800" spc="-1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1800" spc="-10" dirty="0">
                          <a:latin typeface="Constantia"/>
                          <a:cs typeface="Constantia"/>
                        </a:rPr>
                        <a:t>decisions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07288" y="5663895"/>
            <a:ext cx="31845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Data: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78,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82,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91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Information: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score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84%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4525" y="965149"/>
            <a:ext cx="67195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i="0" u="none" dirty="0">
                <a:latin typeface="Calibri"/>
                <a:cs typeface="Calibri"/>
              </a:rPr>
              <a:t>From</a:t>
            </a:r>
            <a:r>
              <a:rPr i="0" u="none" spc="-135" dirty="0">
                <a:latin typeface="Calibri"/>
                <a:cs typeface="Calibri"/>
              </a:rPr>
              <a:t> </a:t>
            </a:r>
            <a:r>
              <a:rPr i="0" u="none" dirty="0">
                <a:latin typeface="Calibri"/>
                <a:cs typeface="Calibri"/>
              </a:rPr>
              <a:t>Data</a:t>
            </a:r>
            <a:r>
              <a:rPr i="0" u="none" spc="-140" dirty="0">
                <a:latin typeface="Calibri"/>
                <a:cs typeface="Calibri"/>
              </a:rPr>
              <a:t> </a:t>
            </a:r>
            <a:r>
              <a:rPr i="0" u="none" dirty="0">
                <a:latin typeface="Calibri"/>
                <a:cs typeface="Calibri"/>
              </a:rPr>
              <a:t>to</a:t>
            </a:r>
            <a:r>
              <a:rPr i="0" u="none" spc="-135" dirty="0">
                <a:latin typeface="Calibri"/>
                <a:cs typeface="Calibri"/>
              </a:rPr>
              <a:t> </a:t>
            </a:r>
            <a:r>
              <a:rPr i="0" u="none" spc="-10" dirty="0">
                <a:latin typeface="Calibri"/>
                <a:cs typeface="Calibri"/>
              </a:rPr>
              <a:t>Information</a:t>
            </a:r>
            <a:r>
              <a:rPr i="0" u="none" spc="-150" dirty="0">
                <a:latin typeface="Calibri"/>
                <a:cs typeface="Calibri"/>
              </a:rPr>
              <a:t> </a:t>
            </a:r>
            <a:r>
              <a:rPr i="0" u="none" spc="-25" dirty="0">
                <a:latin typeface="Calibri"/>
                <a:cs typeface="Calibri"/>
              </a:rPr>
              <a:t>to </a:t>
            </a:r>
            <a:r>
              <a:rPr i="0" u="none" spc="-10" dirty="0">
                <a:latin typeface="Calibri"/>
                <a:cs typeface="Calibri"/>
              </a:rPr>
              <a:t>Knowledge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Transformation</a:t>
            </a:r>
            <a:r>
              <a:rPr spc="-40" dirty="0"/>
              <a:t> </a:t>
            </a:r>
            <a:r>
              <a:rPr spc="-10" dirty="0">
                <a:latin typeface="Constantia"/>
                <a:cs typeface="Constantia"/>
              </a:rPr>
              <a:t>Process</a:t>
            </a:r>
          </a:p>
          <a:p>
            <a:pPr marL="12700">
              <a:lnSpc>
                <a:spcPct val="100000"/>
              </a:lnSpc>
              <a:spcBef>
                <a:spcPts val="2885"/>
              </a:spcBef>
            </a:pPr>
            <a:r>
              <a:rPr u="none" dirty="0">
                <a:latin typeface="Constantia"/>
                <a:cs typeface="Constantia"/>
              </a:rPr>
              <a:t>Raw</a:t>
            </a:r>
            <a:r>
              <a:rPr u="none" spc="-114" dirty="0">
                <a:latin typeface="Constantia"/>
                <a:cs typeface="Constantia"/>
              </a:rPr>
              <a:t> </a:t>
            </a:r>
            <a:r>
              <a:rPr u="none" spc="-20" dirty="0">
                <a:latin typeface="Constantia"/>
                <a:cs typeface="Constantia"/>
              </a:rPr>
              <a:t>Data</a:t>
            </a:r>
          </a:p>
          <a:p>
            <a:pPr marL="304800">
              <a:lnSpc>
                <a:spcPct val="100000"/>
              </a:lnSpc>
            </a:pPr>
            <a:r>
              <a:rPr u="none" spc="-50" dirty="0">
                <a:latin typeface="Times New Roman"/>
                <a:cs typeface="Times New Roman"/>
              </a:rPr>
              <a:t>↓</a:t>
            </a:r>
          </a:p>
          <a:p>
            <a:pPr marL="12700">
              <a:lnSpc>
                <a:spcPct val="100000"/>
              </a:lnSpc>
            </a:pPr>
            <a:r>
              <a:rPr u="none" spc="-10" dirty="0">
                <a:latin typeface="Constantia"/>
                <a:cs typeface="Constantia"/>
              </a:rPr>
              <a:t>Processing</a:t>
            </a:r>
          </a:p>
          <a:p>
            <a:pPr marL="304800">
              <a:lnSpc>
                <a:spcPct val="100000"/>
              </a:lnSpc>
            </a:pPr>
            <a:r>
              <a:rPr u="none" spc="-50" dirty="0">
                <a:latin typeface="Times New Roman"/>
                <a:cs typeface="Times New Roman"/>
              </a:rPr>
              <a:t>↓</a:t>
            </a:r>
          </a:p>
          <a:p>
            <a:pPr marL="12700">
              <a:lnSpc>
                <a:spcPct val="100000"/>
              </a:lnSpc>
            </a:pPr>
            <a:r>
              <a:rPr u="none" spc="-10" dirty="0">
                <a:latin typeface="Constantia"/>
                <a:cs typeface="Constantia"/>
              </a:rPr>
              <a:t>Information</a:t>
            </a:r>
          </a:p>
          <a:p>
            <a:pPr marL="304800">
              <a:lnSpc>
                <a:spcPct val="100000"/>
              </a:lnSpc>
            </a:pPr>
            <a:r>
              <a:rPr u="none" spc="-50" dirty="0">
                <a:latin typeface="Times New Roman"/>
                <a:cs typeface="Times New Roman"/>
              </a:rPr>
              <a:t>↓</a:t>
            </a:r>
          </a:p>
          <a:p>
            <a:pPr marL="12700">
              <a:lnSpc>
                <a:spcPct val="100000"/>
              </a:lnSpc>
            </a:pPr>
            <a:r>
              <a:rPr u="none" spc="-10" dirty="0">
                <a:latin typeface="Constantia"/>
                <a:cs typeface="Constantia"/>
              </a:rPr>
              <a:t>Analysis</a:t>
            </a:r>
            <a:r>
              <a:rPr u="none" spc="-75" dirty="0">
                <a:latin typeface="Constantia"/>
                <a:cs typeface="Constantia"/>
              </a:rPr>
              <a:t> </a:t>
            </a:r>
            <a:r>
              <a:rPr u="none" dirty="0">
                <a:latin typeface="Constantia"/>
                <a:cs typeface="Constantia"/>
              </a:rPr>
              <a:t>&amp;</a:t>
            </a:r>
            <a:r>
              <a:rPr u="none" spc="-45" dirty="0">
                <a:latin typeface="Constantia"/>
                <a:cs typeface="Constantia"/>
              </a:rPr>
              <a:t> </a:t>
            </a:r>
            <a:r>
              <a:rPr u="none" spc="-10" dirty="0">
                <a:latin typeface="Constantia"/>
                <a:cs typeface="Constantia"/>
              </a:rPr>
              <a:t>Experience</a:t>
            </a:r>
          </a:p>
          <a:p>
            <a:pPr marL="304800">
              <a:lnSpc>
                <a:spcPct val="100000"/>
              </a:lnSpc>
            </a:pPr>
            <a:r>
              <a:rPr u="none" spc="-50" dirty="0">
                <a:latin typeface="Times New Roman"/>
                <a:cs typeface="Times New Roman"/>
              </a:rPr>
              <a:t>↓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u="none" spc="-10" dirty="0">
                <a:latin typeface="Constantia"/>
                <a:cs typeface="Constantia"/>
              </a:rPr>
              <a:t>Knowledge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08372" y="3733292"/>
            <a:ext cx="1212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Explanation: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8372" y="4281627"/>
            <a:ext cx="421703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Data: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collected.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5"/>
              </a:spcBef>
            </a:pPr>
            <a:r>
              <a:rPr sz="1800" b="1" dirty="0">
                <a:latin typeface="Calibri"/>
                <a:cs typeface="Calibri"/>
              </a:rPr>
              <a:t>Information: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meaningful form.</a:t>
            </a:r>
            <a:endParaRPr sz="1800">
              <a:latin typeface="Calibri"/>
              <a:cs typeface="Calibri"/>
            </a:endParaRPr>
          </a:p>
          <a:p>
            <a:pPr marL="12700" marR="800100">
              <a:lnSpc>
                <a:spcPct val="100000"/>
              </a:lnSpc>
              <a:spcBef>
                <a:spcPts val="2160"/>
              </a:spcBef>
            </a:pPr>
            <a:r>
              <a:rPr sz="1800" b="1" spc="-10" dirty="0">
                <a:latin typeface="Calibri"/>
                <a:cs typeface="Calibri"/>
              </a:rPr>
              <a:t>Knowledge: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combined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experience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decisions.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894079"/>
            <a:ext cx="56007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Importance</a:t>
            </a:r>
            <a:r>
              <a:rPr spc="-150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spc="-25" dirty="0"/>
              <a:t>the</a:t>
            </a:r>
            <a:r>
              <a:rPr u="none" spc="-25" dirty="0"/>
              <a:t> </a:t>
            </a:r>
            <a:r>
              <a:rPr spc="-10" dirty="0"/>
              <a:t>Transformation</a:t>
            </a:r>
            <a:r>
              <a:rPr spc="-21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27249"/>
            <a:ext cx="6505575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Why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Process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Matters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sz="2200" b="1" spc="-10" dirty="0">
                <a:latin typeface="Calibri"/>
                <a:cs typeface="Calibri"/>
              </a:rPr>
              <a:t>Benefits: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Improves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understanding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Supports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planning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5454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Reduces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uncertainty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Increases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efficiency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Helps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identify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trends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Enables</a:t>
            </a:r>
            <a:r>
              <a:rPr sz="2200" spc="-10" dirty="0">
                <a:latin typeface="Calibri"/>
                <a:cs typeface="Calibri"/>
              </a:rPr>
              <a:t> informed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decision-making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Calibri"/>
                <a:cs typeface="Calibri"/>
              </a:rPr>
              <a:t>Example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5454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Sales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→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Monthly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sales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report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→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strategy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5848" y="670636"/>
            <a:ext cx="5553075" cy="1551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5000" i="0" spc="-85" dirty="0">
                <a:latin typeface="Calibri"/>
                <a:cs typeface="Calibri"/>
              </a:rPr>
              <a:t> </a:t>
            </a:r>
            <a:r>
              <a:rPr sz="5000" i="0" spc="-20" dirty="0">
                <a:latin typeface="Calibri"/>
                <a:cs typeface="Calibri"/>
              </a:rPr>
              <a:t>Value</a:t>
            </a:r>
            <a:r>
              <a:rPr sz="5000" i="0" spc="-100" dirty="0">
                <a:latin typeface="Calibri"/>
                <a:cs typeface="Calibri"/>
              </a:rPr>
              <a:t> </a:t>
            </a:r>
            <a:r>
              <a:rPr sz="4400" i="0" dirty="0">
                <a:latin typeface="Calibri"/>
                <a:cs typeface="Calibri"/>
              </a:rPr>
              <a:t>of</a:t>
            </a:r>
            <a:r>
              <a:rPr sz="4400" i="0" spc="45" dirty="0">
                <a:latin typeface="Calibri"/>
                <a:cs typeface="Calibri"/>
              </a:rPr>
              <a:t> </a:t>
            </a:r>
            <a:r>
              <a:rPr sz="5000" i="0" spc="-10" dirty="0">
                <a:latin typeface="Calibri"/>
                <a:cs typeface="Calibri"/>
              </a:rPr>
              <a:t>Information</a:t>
            </a:r>
            <a:r>
              <a:rPr sz="5000" i="0" u="none" spc="-10" dirty="0">
                <a:latin typeface="Calibri"/>
                <a:cs typeface="Calibri"/>
              </a:rPr>
              <a:t> </a:t>
            </a:r>
            <a:r>
              <a:rPr sz="5000" i="0" dirty="0">
                <a:latin typeface="Calibri"/>
                <a:cs typeface="Calibri"/>
              </a:rPr>
              <a:t>in</a:t>
            </a:r>
            <a:r>
              <a:rPr sz="5000" i="0" spc="-35" dirty="0">
                <a:latin typeface="Calibri"/>
                <a:cs typeface="Calibri"/>
              </a:rPr>
              <a:t> </a:t>
            </a:r>
            <a:r>
              <a:rPr sz="5000" i="0" dirty="0">
                <a:latin typeface="Calibri"/>
                <a:cs typeface="Calibri"/>
              </a:rPr>
              <a:t>Decision</a:t>
            </a:r>
            <a:r>
              <a:rPr sz="5000" i="0" spc="-65" dirty="0">
                <a:latin typeface="Calibri"/>
                <a:cs typeface="Calibri"/>
              </a:rPr>
              <a:t> </a:t>
            </a:r>
            <a:r>
              <a:rPr sz="5000" i="0" spc="-10" dirty="0">
                <a:latin typeface="Calibri"/>
                <a:cs typeface="Calibri"/>
              </a:rPr>
              <a:t>Making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305558"/>
            <a:ext cx="7026909" cy="3976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Why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Important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Supports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decision-making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risks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planning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forecasting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Increases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productivity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Enhances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satisfaction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competitive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advantage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Business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Example</a:t>
            </a:r>
            <a:endParaRPr sz="2400">
              <a:latin typeface="Calibri"/>
              <a:cs typeface="Calibri"/>
            </a:endParaRPr>
          </a:p>
          <a:p>
            <a:pPr marL="286385" marR="5080" indent="-274320">
              <a:lnSpc>
                <a:spcPts val="2300"/>
              </a:lnSpc>
              <a:spcBef>
                <a:spcPts val="56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monthly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products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marR="5080" indent="-635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 </a:t>
            </a:r>
            <a:r>
              <a:rPr spc="-10" dirty="0"/>
              <a:t>Characteristics</a:t>
            </a:r>
            <a:r>
              <a:rPr spc="-7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20" dirty="0"/>
              <a:t>Good</a:t>
            </a:r>
            <a:r>
              <a:rPr u="none" spc="-20" dirty="0"/>
              <a:t> </a:t>
            </a:r>
            <a:r>
              <a:rPr spc="-10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288" y="2446146"/>
            <a:ext cx="7398384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Qualities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Useful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Good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characteristics: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spc="-10" dirty="0">
                <a:latin typeface="Calibri"/>
                <a:cs typeface="Calibri"/>
              </a:rPr>
              <a:t>Accurate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dirty="0">
                <a:latin typeface="Calibri"/>
                <a:cs typeface="Calibri"/>
              </a:rPr>
              <a:t>Complete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details.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spc="-20" dirty="0">
                <a:latin typeface="Calibri"/>
                <a:cs typeface="Calibri"/>
              </a:rPr>
              <a:t>Relevant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dirty="0">
                <a:latin typeface="Calibri"/>
                <a:cs typeface="Calibri"/>
              </a:rPr>
              <a:t>Timely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Available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needed.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dirty="0">
                <a:latin typeface="Calibri"/>
                <a:cs typeface="Calibri"/>
              </a:rPr>
              <a:t>Reliable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trustworthy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sources.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spc="-10" dirty="0">
                <a:latin typeface="Calibri"/>
                <a:cs typeface="Calibri"/>
              </a:rPr>
              <a:t>Consistent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65477" y="875157"/>
            <a:ext cx="569785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2815" marR="5080" indent="-920750">
              <a:lnSpc>
                <a:spcPct val="100000"/>
              </a:lnSpc>
              <a:spcBef>
                <a:spcPts val="105"/>
              </a:spcBef>
            </a:pPr>
            <a:r>
              <a:rPr sz="5000" spc="-15" dirty="0"/>
              <a:t>Real-</a:t>
            </a:r>
            <a:r>
              <a:rPr sz="5000" dirty="0"/>
              <a:t>Life</a:t>
            </a:r>
            <a:r>
              <a:rPr sz="5000" spc="-135" dirty="0"/>
              <a:t> </a:t>
            </a:r>
            <a:r>
              <a:rPr sz="5000" spc="-10" dirty="0"/>
              <a:t>Applications</a:t>
            </a:r>
            <a:r>
              <a:rPr sz="5000" u="none" spc="-10" dirty="0"/>
              <a:t> </a:t>
            </a:r>
            <a:r>
              <a:rPr sz="5000" dirty="0"/>
              <a:t>of</a:t>
            </a:r>
            <a:r>
              <a:rPr sz="5000" spc="-25" dirty="0"/>
              <a:t> </a:t>
            </a:r>
            <a:r>
              <a:rPr sz="5000" spc="-10" dirty="0"/>
              <a:t>Information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07288" y="2376627"/>
            <a:ext cx="4641215" cy="4081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nstantia"/>
                <a:cs typeface="Constantia"/>
              </a:rPr>
              <a:t>Organizations</a:t>
            </a:r>
            <a:r>
              <a:rPr sz="2400" b="1" spc="-55" dirty="0">
                <a:latin typeface="Constantia"/>
                <a:cs typeface="Constantia"/>
              </a:rPr>
              <a:t> </a:t>
            </a:r>
            <a:r>
              <a:rPr sz="2400" b="1" spc="-10" dirty="0">
                <a:latin typeface="Constantia"/>
                <a:cs typeface="Constantia"/>
              </a:rPr>
              <a:t>Use</a:t>
            </a:r>
            <a:r>
              <a:rPr sz="2400" b="1" spc="-125" dirty="0">
                <a:latin typeface="Constantia"/>
                <a:cs typeface="Constantia"/>
              </a:rPr>
              <a:t> </a:t>
            </a:r>
            <a:r>
              <a:rPr sz="2400" b="1" spc="-10" dirty="0">
                <a:latin typeface="Constantia"/>
                <a:cs typeface="Constantia"/>
              </a:rPr>
              <a:t>Information-</a:t>
            </a:r>
            <a:endParaRPr sz="24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sz="2200" b="1" spc="-10" dirty="0">
                <a:latin typeface="Constantia"/>
                <a:cs typeface="Constantia"/>
              </a:rPr>
              <a:t>Business</a:t>
            </a:r>
            <a:endParaRPr sz="2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spc="-10" dirty="0">
                <a:latin typeface="Constantia"/>
                <a:cs typeface="Constantia"/>
              </a:rPr>
              <a:t>Analyze</a:t>
            </a:r>
            <a:r>
              <a:rPr sz="2200" spc="-105" dirty="0">
                <a:latin typeface="Constantia"/>
                <a:cs typeface="Constantia"/>
              </a:rPr>
              <a:t> </a:t>
            </a:r>
            <a:r>
              <a:rPr sz="2200" dirty="0">
                <a:latin typeface="Constantia"/>
                <a:cs typeface="Constantia"/>
              </a:rPr>
              <a:t>sales</a:t>
            </a:r>
            <a:r>
              <a:rPr sz="2200" spc="-90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performance.</a:t>
            </a:r>
            <a:endParaRPr sz="220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5454"/>
              <a:buFont typeface="Wingdings 2"/>
              <a:buChar char=""/>
              <a:tabLst>
                <a:tab pos="286385" algn="l"/>
              </a:tabLst>
            </a:pPr>
            <a:r>
              <a:rPr sz="2200" spc="-20" dirty="0">
                <a:latin typeface="Constantia"/>
                <a:cs typeface="Constantia"/>
              </a:rPr>
              <a:t>Forecast</a:t>
            </a:r>
            <a:r>
              <a:rPr sz="2200" spc="-55" dirty="0">
                <a:latin typeface="Constantia"/>
                <a:cs typeface="Constantia"/>
              </a:rPr>
              <a:t> </a:t>
            </a:r>
            <a:r>
              <a:rPr sz="2200" spc="-20" dirty="0">
                <a:latin typeface="Constantia"/>
                <a:cs typeface="Constantia"/>
              </a:rPr>
              <a:t>market</a:t>
            </a:r>
            <a:r>
              <a:rPr sz="2200" spc="-114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demand.</a:t>
            </a:r>
            <a:endParaRPr sz="2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spc="-10" dirty="0">
                <a:latin typeface="Constantia"/>
                <a:cs typeface="Constantia"/>
              </a:rPr>
              <a:t>Manage</a:t>
            </a:r>
            <a:r>
              <a:rPr sz="2200" spc="-95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inventory.</a:t>
            </a:r>
            <a:endParaRPr sz="22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Constantia"/>
                <a:cs typeface="Constantia"/>
              </a:rPr>
              <a:t>Healthcare</a:t>
            </a:r>
            <a:endParaRPr sz="2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dirty="0">
                <a:latin typeface="Constantia"/>
                <a:cs typeface="Constantia"/>
              </a:rPr>
              <a:t>Maintain</a:t>
            </a:r>
            <a:r>
              <a:rPr sz="2200" spc="-114" dirty="0">
                <a:latin typeface="Constantia"/>
                <a:cs typeface="Constantia"/>
              </a:rPr>
              <a:t> </a:t>
            </a:r>
            <a:r>
              <a:rPr sz="2200" dirty="0">
                <a:latin typeface="Constantia"/>
                <a:cs typeface="Constantia"/>
              </a:rPr>
              <a:t>patient</a:t>
            </a:r>
            <a:r>
              <a:rPr sz="2200" spc="-120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records.</a:t>
            </a:r>
            <a:endParaRPr sz="2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dirty="0">
                <a:latin typeface="Constantia"/>
                <a:cs typeface="Constantia"/>
              </a:rPr>
              <a:t>Support</a:t>
            </a:r>
            <a:r>
              <a:rPr sz="2200" spc="-95" dirty="0">
                <a:latin typeface="Constantia"/>
                <a:cs typeface="Constantia"/>
              </a:rPr>
              <a:t> </a:t>
            </a:r>
            <a:r>
              <a:rPr sz="2200" dirty="0">
                <a:latin typeface="Constantia"/>
                <a:cs typeface="Constantia"/>
              </a:rPr>
              <a:t>medical</a:t>
            </a:r>
            <a:r>
              <a:rPr sz="2200" spc="-125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diagnosis.</a:t>
            </a:r>
            <a:endParaRPr sz="22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Constantia"/>
                <a:cs typeface="Constantia"/>
              </a:rPr>
              <a:t>Education</a:t>
            </a:r>
            <a:endParaRPr sz="2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spc="-30" dirty="0">
                <a:latin typeface="Constantia"/>
                <a:cs typeface="Constantia"/>
              </a:rPr>
              <a:t>Track</a:t>
            </a:r>
            <a:r>
              <a:rPr sz="2200" spc="-85" dirty="0">
                <a:latin typeface="Constantia"/>
                <a:cs typeface="Constantia"/>
              </a:rPr>
              <a:t> </a:t>
            </a:r>
            <a:r>
              <a:rPr sz="2200" dirty="0">
                <a:latin typeface="Constantia"/>
                <a:cs typeface="Constantia"/>
              </a:rPr>
              <a:t>student</a:t>
            </a:r>
            <a:r>
              <a:rPr sz="2200" spc="-120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performance.</a:t>
            </a:r>
            <a:endParaRPr sz="220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spc="-25" dirty="0">
                <a:latin typeface="Constantia"/>
                <a:cs typeface="Constantia"/>
              </a:rPr>
              <a:t>Monitor</a:t>
            </a:r>
            <a:r>
              <a:rPr sz="2200" spc="-114" dirty="0">
                <a:latin typeface="Constantia"/>
                <a:cs typeface="Constantia"/>
              </a:rPr>
              <a:t> </a:t>
            </a:r>
            <a:r>
              <a:rPr sz="2200" spc="-20" dirty="0">
                <a:latin typeface="Constantia"/>
                <a:cs typeface="Constantia"/>
              </a:rPr>
              <a:t>attendance</a:t>
            </a:r>
            <a:r>
              <a:rPr sz="2200" spc="-105" dirty="0">
                <a:latin typeface="Constantia"/>
                <a:cs typeface="Constantia"/>
              </a:rPr>
              <a:t> </a:t>
            </a:r>
            <a:r>
              <a:rPr sz="2200" dirty="0">
                <a:latin typeface="Constantia"/>
                <a:cs typeface="Constantia"/>
              </a:rPr>
              <a:t>and</a:t>
            </a:r>
            <a:r>
              <a:rPr sz="2200" spc="5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results.</a:t>
            </a:r>
            <a:endParaRPr sz="22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7395" y="426465"/>
            <a:ext cx="25679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69160"/>
            <a:ext cx="8049895" cy="406781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600" b="1" dirty="0">
                <a:latin typeface="Calibri"/>
                <a:cs typeface="Calibri"/>
              </a:rPr>
              <a:t>Key</a:t>
            </a:r>
            <a:r>
              <a:rPr sz="2600" b="1" spc="-114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Takeaways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raw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unprocessed.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spc="-10" dirty="0">
                <a:latin typeface="Calibri"/>
                <a:cs typeface="Calibri"/>
              </a:rPr>
              <a:t>Information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meaning.</a:t>
            </a:r>
            <a:endParaRPr sz="2600">
              <a:latin typeface="Calibri"/>
              <a:cs typeface="Calibri"/>
            </a:endParaRPr>
          </a:p>
          <a:p>
            <a:pPr marL="286385" marR="2562225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Calibri"/>
                <a:cs typeface="Calibri"/>
              </a:rPr>
              <a:t>Knowledge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created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analyzing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applying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information.</a:t>
            </a:r>
            <a:endParaRPr sz="2600">
              <a:latin typeface="Calibri"/>
              <a:cs typeface="Calibri"/>
            </a:endParaRPr>
          </a:p>
          <a:p>
            <a:pPr marL="286385" marR="1266825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transformation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→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Information</a:t>
            </a:r>
            <a:r>
              <a:rPr sz="2600" b="1" spc="-50" dirty="0">
                <a:latin typeface="Calibri"/>
                <a:cs typeface="Calibri"/>
              </a:rPr>
              <a:t> → </a:t>
            </a:r>
            <a:r>
              <a:rPr sz="2600" b="1" spc="-10" dirty="0">
                <a:latin typeface="Calibri"/>
                <a:cs typeface="Calibri"/>
              </a:rPr>
              <a:t>Knowledge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supports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decisions.</a:t>
            </a:r>
            <a:endParaRPr sz="2600">
              <a:latin typeface="Calibri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High-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achieve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their goals.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58594" y="752982"/>
            <a:ext cx="619887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6180" marR="5080" indent="-1174115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latin typeface="Calibri"/>
                <a:cs typeface="Calibri"/>
              </a:rPr>
              <a:t>5:Overview</a:t>
            </a:r>
            <a:r>
              <a:rPr sz="4400" i="0" spc="-45" dirty="0">
                <a:latin typeface="Calibri"/>
                <a:cs typeface="Calibri"/>
              </a:rPr>
              <a:t> </a:t>
            </a:r>
            <a:r>
              <a:rPr sz="4400" i="0" dirty="0">
                <a:latin typeface="Calibri"/>
                <a:cs typeface="Calibri"/>
              </a:rPr>
              <a:t>of</a:t>
            </a:r>
            <a:r>
              <a:rPr sz="4400" i="0" spc="-20" dirty="0">
                <a:latin typeface="Calibri"/>
                <a:cs typeface="Calibri"/>
              </a:rPr>
              <a:t> </a:t>
            </a:r>
            <a:r>
              <a:rPr sz="4400" i="0" spc="-35" dirty="0">
                <a:latin typeface="Calibri"/>
                <a:cs typeface="Calibri"/>
              </a:rPr>
              <a:t>Data-</a:t>
            </a:r>
            <a:r>
              <a:rPr sz="4400" i="0" spc="-10" dirty="0">
                <a:latin typeface="Calibri"/>
                <a:cs typeface="Calibri"/>
              </a:rPr>
              <a:t>Driven</a:t>
            </a:r>
            <a:r>
              <a:rPr sz="4400" i="0" u="none" spc="-10" dirty="0">
                <a:latin typeface="Calibri"/>
                <a:cs typeface="Calibri"/>
              </a:rPr>
              <a:t> </a:t>
            </a:r>
            <a:r>
              <a:rPr sz="4400" i="0" dirty="0">
                <a:latin typeface="Calibri"/>
                <a:cs typeface="Calibri"/>
              </a:rPr>
              <a:t>Decision</a:t>
            </a:r>
            <a:r>
              <a:rPr sz="4400" i="0" spc="-30" dirty="0">
                <a:latin typeface="Calibri"/>
                <a:cs typeface="Calibri"/>
              </a:rPr>
              <a:t> </a:t>
            </a:r>
            <a:r>
              <a:rPr sz="4400" i="0" spc="-10" dirty="0">
                <a:latin typeface="Calibri"/>
                <a:cs typeface="Calibri"/>
              </a:rPr>
              <a:t>Making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297633"/>
            <a:ext cx="8159115" cy="4144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u="sng" spc="-25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Introduction</a:t>
            </a:r>
            <a:r>
              <a:rPr sz="4000" b="1" u="sng" spc="-165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to</a:t>
            </a:r>
            <a:r>
              <a:rPr sz="3200" b="1" u="sng" spc="-35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Data-</a:t>
            </a:r>
            <a:r>
              <a:rPr sz="3200" b="1" u="sng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Driven</a:t>
            </a:r>
            <a:r>
              <a:rPr sz="3200" b="1" u="sng" spc="-75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Decision</a:t>
            </a:r>
            <a:r>
              <a:rPr sz="3200" b="1" u="sng" spc="-6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Making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alibri"/>
                <a:cs typeface="Calibri"/>
              </a:rPr>
              <a:t>What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30" dirty="0">
                <a:latin typeface="Calibri"/>
                <a:cs typeface="Calibri"/>
              </a:rPr>
              <a:t>Data-</a:t>
            </a:r>
            <a:r>
              <a:rPr sz="2800" b="1" dirty="0">
                <a:latin typeface="Calibri"/>
                <a:cs typeface="Calibri"/>
              </a:rPr>
              <a:t>Driven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Decision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Making?</a:t>
            </a:r>
            <a:endParaRPr sz="2800">
              <a:latin typeface="Calibri"/>
              <a:cs typeface="Calibri"/>
            </a:endParaRPr>
          </a:p>
          <a:p>
            <a:pPr marL="286385" marR="5080" indent="-274320">
              <a:lnSpc>
                <a:spcPts val="3020"/>
              </a:lnSpc>
              <a:spcBef>
                <a:spcPts val="720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spc="-30" dirty="0">
                <a:latin typeface="Calibri"/>
                <a:cs typeface="Calibri"/>
              </a:rPr>
              <a:t>Data-</a:t>
            </a:r>
            <a:r>
              <a:rPr sz="2800" dirty="0">
                <a:latin typeface="Calibri"/>
                <a:cs typeface="Calibri"/>
              </a:rPr>
              <a:t>Driven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(DDDM)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making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decisions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facts,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data,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analysis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86385" marR="684530" indent="-274320">
              <a:lnSpc>
                <a:spcPts val="3020"/>
              </a:lnSpc>
              <a:spcBef>
                <a:spcPts val="680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organizations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effective decisions.</a:t>
            </a:r>
            <a:endParaRPr sz="2800">
              <a:latin typeface="Calibri"/>
              <a:cs typeface="Calibri"/>
            </a:endParaRPr>
          </a:p>
          <a:p>
            <a:pPr marL="286385" marR="273685" indent="-274320">
              <a:lnSpc>
                <a:spcPts val="3020"/>
              </a:lnSpc>
              <a:spcBef>
                <a:spcPts val="680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reduces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dependency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assumptions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personal opinions.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0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/>
              <a:t>Importance: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1079093" y="2658846"/>
            <a:ext cx="4666615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6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spc="-10" dirty="0">
                <a:latin typeface="Calibri"/>
                <a:cs typeface="Calibri"/>
              </a:rPr>
              <a:t>Improves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decision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quality.</a:t>
            </a:r>
            <a:endParaRPr sz="3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risks.</a:t>
            </a:r>
            <a:endParaRPr sz="3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76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business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growth.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67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Principles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0" dirty="0"/>
              <a:t>Data-</a:t>
            </a:r>
            <a:r>
              <a:rPr dirty="0"/>
              <a:t>Driven</a:t>
            </a:r>
            <a:r>
              <a:rPr spc="-50" dirty="0"/>
              <a:t> </a:t>
            </a:r>
            <a:r>
              <a:rPr spc="-10" dirty="0"/>
              <a:t>Decision</a:t>
            </a:r>
            <a:r>
              <a:rPr u="none" spc="-10" dirty="0"/>
              <a:t> </a:t>
            </a:r>
            <a:r>
              <a:rPr spc="-10" dirty="0"/>
              <a:t>Making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8916" y="2479674"/>
            <a:ext cx="7167245" cy="3783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Key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Principles: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Quality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accurate,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complete,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reliable.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Good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Clear</a:t>
            </a:r>
            <a:r>
              <a:rPr sz="2600" b="1" spc="-10" dirty="0">
                <a:latin typeface="Calibri"/>
                <a:cs typeface="Calibri"/>
              </a:rPr>
              <a:t> Objectives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Decisions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goals.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focus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right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targets.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7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Principles</a:t>
            </a:r>
            <a:r>
              <a:rPr sz="4400" spc="-30" dirty="0"/>
              <a:t> </a:t>
            </a:r>
            <a:r>
              <a:rPr sz="4400" dirty="0"/>
              <a:t>of</a:t>
            </a:r>
            <a:r>
              <a:rPr sz="4400" spc="-50" dirty="0"/>
              <a:t> </a:t>
            </a:r>
            <a:r>
              <a:rPr sz="4400" spc="-25" dirty="0"/>
              <a:t>Data-</a:t>
            </a:r>
            <a:r>
              <a:rPr sz="4400" dirty="0"/>
              <a:t>Driven</a:t>
            </a:r>
            <a:r>
              <a:rPr sz="4400" spc="-20" dirty="0"/>
              <a:t> </a:t>
            </a:r>
            <a:r>
              <a:rPr sz="4400" spc="-10" dirty="0"/>
              <a:t>Decision</a:t>
            </a:r>
            <a:r>
              <a:rPr sz="4400" u="none" spc="-10" dirty="0"/>
              <a:t> </a:t>
            </a:r>
            <a:r>
              <a:rPr sz="4400" dirty="0"/>
              <a:t>Making</a:t>
            </a:r>
            <a:r>
              <a:rPr sz="4400" spc="-25" dirty="0"/>
              <a:t> </a:t>
            </a:r>
            <a:r>
              <a:rPr sz="4400" spc="-10" dirty="0"/>
              <a:t>(Continued)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2647797"/>
            <a:ext cx="7698740" cy="3275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Analysis</a:t>
            </a:r>
            <a:endParaRPr sz="2600">
              <a:latin typeface="Calibri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trends,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useful information.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Supports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understanding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situations.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spc="-25" dirty="0">
                <a:latin typeface="Calibri"/>
                <a:cs typeface="Calibri"/>
              </a:rPr>
              <a:t>Evidence-</a:t>
            </a:r>
            <a:r>
              <a:rPr sz="2600" b="1" dirty="0">
                <a:latin typeface="Calibri"/>
                <a:cs typeface="Calibri"/>
              </a:rPr>
              <a:t>Based</a:t>
            </a:r>
            <a:r>
              <a:rPr sz="2600" b="1" spc="2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Decisions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Decisions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facts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Avoids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personal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opinions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assumptions.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672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Benefits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for</a:t>
            </a:r>
            <a:r>
              <a:rPr u="none" spc="-25" dirty="0"/>
              <a:t> </a:t>
            </a:r>
            <a:r>
              <a:rPr spc="-10" dirty="0"/>
              <a:t>Decisions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19086"/>
            <a:ext cx="6278880" cy="299974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200" b="1" dirty="0">
                <a:latin typeface="Calibri"/>
                <a:cs typeface="Calibri"/>
              </a:rPr>
              <a:t>How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Data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Supports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Decision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Making:</a:t>
            </a:r>
            <a:endParaRPr sz="3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6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Improves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decision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accuracy.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Reduces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risks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uncertainty.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opportunities.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Improves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efficiency.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Supports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planning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forecasting.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Benefits</a:t>
            </a:r>
            <a:r>
              <a:rPr spc="-114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30" dirty="0"/>
              <a:t>Data-</a:t>
            </a:r>
            <a:r>
              <a:rPr dirty="0"/>
              <a:t>Driven</a:t>
            </a:r>
            <a:r>
              <a:rPr spc="-110" dirty="0"/>
              <a:t> </a:t>
            </a:r>
            <a:r>
              <a:rPr spc="-10" dirty="0"/>
              <a:t>Decisions</a:t>
            </a:r>
            <a:r>
              <a:rPr u="none" spc="-10" dirty="0"/>
              <a:t> </a:t>
            </a:r>
            <a:r>
              <a:rPr spc="-10" dirty="0"/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50126"/>
            <a:ext cx="4909820" cy="37217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800" b="1" dirty="0">
                <a:latin typeface="Calibri"/>
                <a:cs typeface="Calibri"/>
              </a:rPr>
              <a:t>Additional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Benefits:</a:t>
            </a:r>
            <a:endParaRPr sz="2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Enhances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satisfaction.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productivity.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competitive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advantage.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b="1" spc="-10" dirty="0">
                <a:latin typeface="Calibri"/>
                <a:cs typeface="Calibri"/>
              </a:rPr>
              <a:t>Examples: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Sales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feedback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Market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672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Steps</a:t>
            </a:r>
            <a:r>
              <a:rPr spc="-6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spc="-15" dirty="0"/>
              <a:t>Data-</a:t>
            </a:r>
            <a:r>
              <a:rPr dirty="0"/>
              <a:t>Driven</a:t>
            </a:r>
            <a:r>
              <a:rPr spc="-80" dirty="0"/>
              <a:t> </a:t>
            </a:r>
            <a:r>
              <a:rPr spc="-10" dirty="0"/>
              <a:t>Decision</a:t>
            </a:r>
            <a:r>
              <a:rPr u="none" spc="-1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04733"/>
            <a:ext cx="7361555" cy="3275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b="1" dirty="0">
                <a:latin typeface="Calibri"/>
                <a:cs typeface="Calibri"/>
              </a:rPr>
              <a:t>Step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1: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Identify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Problem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Understand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10" dirty="0">
                <a:latin typeface="Calibri"/>
                <a:cs typeface="Calibri"/>
              </a:rPr>
              <a:t> goal.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Define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decision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made.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Step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2: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Collect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Gather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relevant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reliable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sources.</a:t>
            </a:r>
            <a:endParaRPr sz="2600">
              <a:latin typeface="Calibri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Sources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surveys,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sales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records,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customer feedback.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Steps</a:t>
            </a:r>
            <a:r>
              <a:rPr sz="5000" spc="-65" dirty="0"/>
              <a:t> </a:t>
            </a:r>
            <a:r>
              <a:rPr sz="5000" dirty="0"/>
              <a:t>in</a:t>
            </a:r>
            <a:r>
              <a:rPr sz="5000" spc="-45" dirty="0"/>
              <a:t> </a:t>
            </a:r>
            <a:r>
              <a:rPr sz="5000" spc="-15" dirty="0"/>
              <a:t>Data-</a:t>
            </a:r>
            <a:r>
              <a:rPr sz="5000" dirty="0"/>
              <a:t>Driven</a:t>
            </a:r>
            <a:r>
              <a:rPr sz="5000" spc="-90" dirty="0"/>
              <a:t> </a:t>
            </a:r>
            <a:r>
              <a:rPr sz="5000" spc="-10" dirty="0"/>
              <a:t>Decision</a:t>
            </a:r>
            <a:r>
              <a:rPr sz="5000" u="none" spc="-10" dirty="0"/>
              <a:t> </a:t>
            </a:r>
            <a:r>
              <a:rPr sz="5000" dirty="0"/>
              <a:t>Process</a:t>
            </a:r>
            <a:r>
              <a:rPr sz="5000" spc="-170" dirty="0"/>
              <a:t> </a:t>
            </a:r>
            <a:r>
              <a:rPr sz="5000" spc="-10" dirty="0"/>
              <a:t>(Continued)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35940" y="2504733"/>
            <a:ext cx="6605905" cy="28797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b="1" dirty="0">
                <a:latin typeface="Calibri"/>
                <a:cs typeface="Calibri"/>
              </a:rPr>
              <a:t>Step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3: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Analyze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examine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collected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Find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patterns,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trends,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relationships.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Step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4: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Make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Decision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Select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Implement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decision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organization.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031189"/>
            <a:ext cx="610298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Evaluation</a:t>
            </a:r>
            <a:r>
              <a:rPr sz="5000" spc="-145" dirty="0"/>
              <a:t> </a:t>
            </a:r>
            <a:r>
              <a:rPr sz="5000" dirty="0"/>
              <a:t>of</a:t>
            </a:r>
            <a:r>
              <a:rPr sz="5000" spc="-114" dirty="0"/>
              <a:t> </a:t>
            </a:r>
            <a:r>
              <a:rPr sz="5000" spc="-10" dirty="0"/>
              <a:t>Decisions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435965" y="2219680"/>
            <a:ext cx="5333365" cy="3464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600" b="1" dirty="0">
                <a:latin typeface="Calibri"/>
                <a:cs typeface="Calibri"/>
              </a:rPr>
              <a:t>Step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5: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Evaluate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Results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Monitor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outcome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goals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achieved.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Make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improvements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required.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3200" b="1" spc="-10" dirty="0">
                <a:latin typeface="Calibri"/>
                <a:cs typeface="Calibri"/>
              </a:rPr>
              <a:t>Importance</a:t>
            </a:r>
            <a:r>
              <a:rPr sz="2600" b="1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6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continuous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improvement.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Ensures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future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038859"/>
            <a:ext cx="725741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Challenges</a:t>
            </a:r>
            <a:r>
              <a:rPr sz="4400" spc="-65" dirty="0"/>
              <a:t> </a:t>
            </a:r>
            <a:r>
              <a:rPr sz="4400" dirty="0"/>
              <a:t>and</a:t>
            </a:r>
            <a:r>
              <a:rPr sz="4400" spc="-65" dirty="0"/>
              <a:t> </a:t>
            </a:r>
            <a:r>
              <a:rPr sz="4400" dirty="0"/>
              <a:t>Pitfalls</a:t>
            </a:r>
            <a:r>
              <a:rPr sz="4400" spc="-90" dirty="0"/>
              <a:t> </a:t>
            </a:r>
            <a:r>
              <a:rPr sz="4400" dirty="0"/>
              <a:t>in</a:t>
            </a:r>
            <a:r>
              <a:rPr sz="4400" spc="-70" dirty="0"/>
              <a:t> </a:t>
            </a:r>
            <a:r>
              <a:rPr sz="4400" spc="-10" dirty="0"/>
              <a:t>Data-</a:t>
            </a:r>
            <a:r>
              <a:rPr sz="4400" dirty="0"/>
              <a:t>Driven</a:t>
            </a:r>
            <a:r>
              <a:rPr sz="4400" spc="-65" dirty="0"/>
              <a:t> </a:t>
            </a:r>
            <a:r>
              <a:rPr sz="4400" spc="-10" dirty="0"/>
              <a:t>Approaches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07288" y="2548614"/>
            <a:ext cx="6597015" cy="387096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Common</a:t>
            </a:r>
            <a:r>
              <a:rPr sz="3200" b="1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Challenges: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600" b="1" dirty="0">
                <a:latin typeface="Calibri"/>
                <a:cs typeface="Calibri"/>
              </a:rPr>
              <a:t>Poor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Quality</a:t>
            </a:r>
            <a:endParaRPr sz="2600">
              <a:latin typeface="Calibri"/>
              <a:cs typeface="Calibri"/>
            </a:endParaRPr>
          </a:p>
          <a:p>
            <a:pPr marL="285750" marR="5080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dirty="0">
                <a:latin typeface="Calibri"/>
                <a:cs typeface="Calibri"/>
              </a:rPr>
              <a:t>Incorrect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incomplete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wrong 	decisions.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Privacy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Issues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Protecting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sensitive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important.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Bias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Unbalanced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unfair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049" rIns="0" bIns="0" rtlCol="0">
            <a:spAutoFit/>
          </a:bodyPr>
          <a:lstStyle/>
          <a:p>
            <a:pPr marL="2713355">
              <a:lnSpc>
                <a:spcPct val="100000"/>
              </a:lnSpc>
              <a:spcBef>
                <a:spcPts val="105"/>
              </a:spcBef>
            </a:pPr>
            <a:r>
              <a:rPr sz="5000" spc="-10" dirty="0"/>
              <a:t>Conclusion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07288" y="2481199"/>
            <a:ext cx="8032115" cy="319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527685" algn="l"/>
              </a:tabLst>
            </a:pPr>
            <a:r>
              <a:rPr sz="2600" spc="-10" dirty="0">
                <a:latin typeface="Constantia"/>
                <a:cs typeface="Constantia"/>
              </a:rPr>
              <a:t>Data-Driven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Decision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Making</a:t>
            </a:r>
            <a:r>
              <a:rPr sz="2600" spc="-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helps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organizations </a:t>
            </a:r>
            <a:r>
              <a:rPr sz="2600" dirty="0">
                <a:latin typeface="Constantia"/>
                <a:cs typeface="Constantia"/>
              </a:rPr>
              <a:t>make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b="1" spc="-30" dirty="0">
                <a:latin typeface="Constantia"/>
                <a:cs typeface="Constantia"/>
              </a:rPr>
              <a:t>smarter,</a:t>
            </a:r>
            <a:r>
              <a:rPr sz="2600" b="1" spc="-75" dirty="0">
                <a:latin typeface="Constantia"/>
                <a:cs typeface="Constantia"/>
              </a:rPr>
              <a:t> </a:t>
            </a:r>
            <a:r>
              <a:rPr sz="2600" b="1" spc="-35" dirty="0">
                <a:latin typeface="Constantia"/>
                <a:cs typeface="Constantia"/>
              </a:rPr>
              <a:t>faster,</a:t>
            </a:r>
            <a:r>
              <a:rPr sz="2600" b="1" spc="-110" dirty="0">
                <a:latin typeface="Constantia"/>
                <a:cs typeface="Constantia"/>
              </a:rPr>
              <a:t> </a:t>
            </a:r>
            <a:r>
              <a:rPr sz="2600" b="1" dirty="0">
                <a:latin typeface="Constantia"/>
                <a:cs typeface="Constantia"/>
              </a:rPr>
              <a:t>and</a:t>
            </a:r>
            <a:r>
              <a:rPr sz="2600" b="1" spc="-60" dirty="0">
                <a:latin typeface="Constantia"/>
                <a:cs typeface="Constantia"/>
              </a:rPr>
              <a:t> </a:t>
            </a:r>
            <a:r>
              <a:rPr sz="2600" b="1" spc="-10" dirty="0">
                <a:latin typeface="Constantia"/>
                <a:cs typeface="Constantia"/>
              </a:rPr>
              <a:t>more</a:t>
            </a:r>
            <a:r>
              <a:rPr sz="2600" b="1" spc="-150" dirty="0">
                <a:latin typeface="Constantia"/>
                <a:cs typeface="Constantia"/>
              </a:rPr>
              <a:t> </a:t>
            </a:r>
            <a:r>
              <a:rPr sz="2600" b="1" spc="-10" dirty="0">
                <a:latin typeface="Constantia"/>
                <a:cs typeface="Constantia"/>
              </a:rPr>
              <a:t>accurate </a:t>
            </a:r>
            <a:r>
              <a:rPr sz="2600" b="1" dirty="0">
                <a:latin typeface="Constantia"/>
                <a:cs typeface="Constantia"/>
              </a:rPr>
              <a:t>decisions</a:t>
            </a:r>
            <a:r>
              <a:rPr sz="2600" dirty="0">
                <a:latin typeface="Constantia"/>
                <a:cs typeface="Constantia"/>
              </a:rPr>
              <a:t>.</a:t>
            </a:r>
            <a:r>
              <a:rPr sz="2600" spc="-40" dirty="0">
                <a:latin typeface="Constantia"/>
                <a:cs typeface="Constantia"/>
              </a:rPr>
              <a:t> </a:t>
            </a:r>
            <a:r>
              <a:rPr sz="2600" spc="-35" dirty="0">
                <a:latin typeface="Constantia"/>
                <a:cs typeface="Constantia"/>
              </a:rPr>
              <a:t>It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uses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data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analysis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to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reduce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risks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and improve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business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performance.</a:t>
            </a:r>
            <a:r>
              <a:rPr sz="2600" spc="-3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Proper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data </a:t>
            </a:r>
            <a:r>
              <a:rPr sz="2600" spc="-10" dirty="0">
                <a:latin typeface="Constantia"/>
                <a:cs typeface="Constantia"/>
              </a:rPr>
              <a:t>collection,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analysis,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and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security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are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important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for </a:t>
            </a:r>
            <a:r>
              <a:rPr sz="2600" spc="-10" dirty="0">
                <a:latin typeface="Constantia"/>
                <a:cs typeface="Constantia"/>
              </a:rPr>
              <a:t>successful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decision-</a:t>
            </a:r>
            <a:r>
              <a:rPr sz="2600" dirty="0">
                <a:latin typeface="Constantia"/>
                <a:cs typeface="Constantia"/>
              </a:rPr>
              <a:t>making.</a:t>
            </a:r>
            <a:r>
              <a:rPr sz="2600" spc="-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By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using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data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effectively, </a:t>
            </a:r>
            <a:r>
              <a:rPr sz="2600" dirty="0">
                <a:latin typeface="Constantia"/>
                <a:cs typeface="Constantia"/>
              </a:rPr>
              <a:t>businesses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can</a:t>
            </a:r>
            <a:r>
              <a:rPr sz="2600" spc="-40" dirty="0">
                <a:latin typeface="Constantia"/>
                <a:cs typeface="Constantia"/>
              </a:rPr>
              <a:t> </a:t>
            </a:r>
            <a:r>
              <a:rPr sz="2600" spc="-30" dirty="0">
                <a:latin typeface="Constantia"/>
                <a:cs typeface="Constantia"/>
              </a:rPr>
              <a:t>improve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efficiency,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customer </a:t>
            </a:r>
            <a:r>
              <a:rPr sz="2600" dirty="0">
                <a:latin typeface="Constantia"/>
                <a:cs typeface="Constantia"/>
              </a:rPr>
              <a:t>satisfaction,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and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achieve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long-term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growth.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602" rIns="0" bIns="0" rtlCol="0">
            <a:spAutoFit/>
          </a:bodyPr>
          <a:lstStyle/>
          <a:p>
            <a:pPr marL="2901315" marR="5080" indent="-2340610">
              <a:lnSpc>
                <a:spcPct val="100000"/>
              </a:lnSpc>
              <a:spcBef>
                <a:spcPts val="100"/>
              </a:spcBef>
            </a:pPr>
            <a:r>
              <a:rPr dirty="0"/>
              <a:t>6:Case</a:t>
            </a:r>
            <a:r>
              <a:rPr spc="-25" dirty="0"/>
              <a:t> </a:t>
            </a:r>
            <a:r>
              <a:rPr dirty="0"/>
              <a:t>Discussions</a:t>
            </a:r>
            <a:r>
              <a:rPr spc="-5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spc="-35" dirty="0"/>
              <a:t>Real-</a:t>
            </a:r>
            <a:r>
              <a:rPr spc="-20" dirty="0"/>
              <a:t>Life</a:t>
            </a:r>
            <a:r>
              <a:rPr u="none" spc="-20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33573"/>
            <a:ext cx="7800340" cy="422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497965" indent="-274320">
              <a:lnSpc>
                <a:spcPct val="100000"/>
              </a:lnSpc>
              <a:spcBef>
                <a:spcPts val="100"/>
              </a:spcBef>
            </a:pPr>
            <a:r>
              <a:rPr sz="3600" b="1" i="1" u="sng" spc="-1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Introduction</a:t>
            </a:r>
            <a:r>
              <a:rPr sz="3600" b="1" i="1" u="sng" spc="-6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600" b="1" i="1" u="sng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to</a:t>
            </a:r>
            <a:r>
              <a:rPr sz="3600" b="1" i="1" u="sng" spc="-85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600" b="1" i="1" u="sng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Business</a:t>
            </a:r>
            <a:r>
              <a:rPr sz="3600" b="1" i="1" u="sng" spc="-10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 </a:t>
            </a:r>
            <a:r>
              <a:rPr sz="3600" b="1" i="1" u="sng" spc="-1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Scenario</a:t>
            </a:r>
            <a:r>
              <a:rPr sz="3600" b="1" i="1" spc="-1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3600" b="1" i="1" u="sng" spc="-1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Analysis: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600" b="1" dirty="0">
                <a:latin typeface="Calibri"/>
                <a:cs typeface="Calibri"/>
              </a:rPr>
              <a:t>What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is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Business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Scenario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Analysis?</a:t>
            </a:r>
            <a:endParaRPr sz="2600">
              <a:latin typeface="Calibri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Scenario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studying </a:t>
            </a:r>
            <a:r>
              <a:rPr sz="2600" spc="-20" dirty="0">
                <a:latin typeface="Calibri"/>
                <a:cs typeface="Calibri"/>
              </a:rPr>
              <a:t>real-</a:t>
            </a:r>
            <a:r>
              <a:rPr sz="2600" dirty="0">
                <a:latin typeface="Calibri"/>
                <a:cs typeface="Calibri"/>
              </a:rPr>
              <a:t>life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situations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understand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find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solutions.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decisions.</a:t>
            </a:r>
            <a:endParaRPr sz="2600">
              <a:latin typeface="Calibri"/>
              <a:cs typeface="Calibri"/>
            </a:endParaRPr>
          </a:p>
          <a:p>
            <a:pPr marL="286385" marR="1477010" indent="-274320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facts,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strategies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10" dirty="0">
                <a:latin typeface="Calibri"/>
                <a:cs typeface="Calibri"/>
              </a:rPr>
              <a:t>improvement.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712" rIns="0" bIns="0" rtlCol="0">
            <a:spAutoFit/>
          </a:bodyPr>
          <a:lstStyle/>
          <a:p>
            <a:pPr marL="2270125">
              <a:lnSpc>
                <a:spcPct val="100000"/>
              </a:lnSpc>
              <a:spcBef>
                <a:spcPts val="105"/>
              </a:spcBef>
            </a:pPr>
            <a:r>
              <a:rPr sz="5000" spc="-10" dirty="0"/>
              <a:t>Importance: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793191" y="2791557"/>
            <a:ext cx="4435475" cy="145224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Arial"/>
              <a:buChar char="•"/>
              <a:tabLst>
                <a:tab pos="285115" algn="l"/>
              </a:tabLst>
            </a:pPr>
            <a:r>
              <a:rPr sz="2600" b="1" dirty="0">
                <a:latin typeface="Calibri"/>
                <a:cs typeface="Calibri"/>
              </a:rPr>
              <a:t>Identifies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business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challenges.</a:t>
            </a:r>
            <a:endParaRPr sz="2600">
              <a:latin typeface="Calibri"/>
              <a:cs typeface="Calibri"/>
            </a:endParaRPr>
          </a:p>
          <a:p>
            <a:pPr marL="285115" indent="-27241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"/>
              <a:buChar char="•"/>
              <a:tabLst>
                <a:tab pos="285115" algn="l"/>
              </a:tabLst>
            </a:pPr>
            <a:r>
              <a:rPr sz="2600" b="1" dirty="0">
                <a:latin typeface="Calibri"/>
                <a:cs typeface="Calibri"/>
              </a:rPr>
              <a:t>Improves</a:t>
            </a:r>
            <a:r>
              <a:rPr sz="2600" b="1" spc="-11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decision-making.</a:t>
            </a:r>
            <a:endParaRPr sz="2600">
              <a:latin typeface="Calibri"/>
              <a:cs typeface="Calibri"/>
            </a:endParaRPr>
          </a:p>
          <a:p>
            <a:pPr marL="285115" indent="-27241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Arial"/>
              <a:buChar char="•"/>
              <a:tabLst>
                <a:tab pos="285115" algn="l"/>
              </a:tabLst>
            </a:pPr>
            <a:r>
              <a:rPr sz="2600" b="1" dirty="0">
                <a:latin typeface="Calibri"/>
                <a:cs typeface="Calibri"/>
              </a:rPr>
              <a:t>Helps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achieve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business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goals.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112265"/>
            <a:ext cx="80702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Understanding</a:t>
            </a:r>
            <a:r>
              <a:rPr spc="-185" dirty="0"/>
              <a:t> </a:t>
            </a:r>
            <a:r>
              <a:rPr dirty="0"/>
              <a:t>Business</a:t>
            </a:r>
            <a:r>
              <a:rPr spc="-170" dirty="0"/>
              <a:t> </a:t>
            </a:r>
            <a:r>
              <a:rPr spc="-10" dirty="0"/>
              <a:t>Scenarios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3689"/>
            <a:ext cx="7880350" cy="39033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Business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Scenario?</a:t>
            </a:r>
            <a:endParaRPr sz="2400">
              <a:latin typeface="Calibri"/>
              <a:cs typeface="Calibri"/>
            </a:endParaRPr>
          </a:p>
          <a:p>
            <a:pPr marL="286385" marR="5080" indent="-274320">
              <a:lnSpc>
                <a:spcPts val="2590"/>
              </a:lnSpc>
              <a:spcBef>
                <a:spcPts val="61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scenario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organization.</a:t>
            </a:r>
            <a:endParaRPr sz="2400">
              <a:latin typeface="Calibri"/>
              <a:cs typeface="Calibri"/>
            </a:endParaRPr>
          </a:p>
          <a:p>
            <a:pPr marL="286385" marR="8890" indent="-274320">
              <a:lnSpc>
                <a:spcPts val="2590"/>
              </a:lnSpc>
              <a:spcBef>
                <a:spcPts val="5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challenges,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 solutions.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400" b="1" dirty="0">
                <a:latin typeface="Calibri"/>
                <a:cs typeface="Calibri"/>
              </a:rPr>
              <a:t>Key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Elements: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112265"/>
            <a:ext cx="823975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Steps</a:t>
            </a:r>
            <a:r>
              <a:rPr spc="-160" dirty="0"/>
              <a:t> </a:t>
            </a:r>
            <a:r>
              <a:rPr dirty="0"/>
              <a:t>in</a:t>
            </a:r>
            <a:r>
              <a:rPr spc="-155" dirty="0"/>
              <a:t> </a:t>
            </a:r>
            <a:r>
              <a:rPr dirty="0"/>
              <a:t>Business</a:t>
            </a:r>
            <a:r>
              <a:rPr spc="-160" dirty="0"/>
              <a:t> </a:t>
            </a:r>
            <a:r>
              <a:rPr dirty="0"/>
              <a:t>Scenario</a:t>
            </a:r>
            <a:r>
              <a:rPr spc="-15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19680"/>
            <a:ext cx="7593330" cy="38303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42900" algn="l"/>
              </a:tabLst>
            </a:pPr>
            <a:r>
              <a:rPr sz="2600" b="1" dirty="0">
                <a:latin typeface="Calibri"/>
                <a:cs typeface="Calibri"/>
              </a:rPr>
              <a:t>Identify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Problem</a:t>
            </a:r>
            <a:endParaRPr sz="2600">
              <a:latin typeface="Calibri"/>
              <a:cs typeface="Calibri"/>
            </a:endParaRPr>
          </a:p>
          <a:p>
            <a:pPr marL="286385" lvl="1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Understand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affecting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business.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2.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Collect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Information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Gather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about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customers,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market,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3.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Analyze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Situation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Study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causes,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impacts,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solutions.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4.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Make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Decisions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Select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best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strategy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analysis.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717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Real-</a:t>
            </a:r>
            <a:r>
              <a:rPr sz="4400" dirty="0"/>
              <a:t>Life</a:t>
            </a:r>
            <a:r>
              <a:rPr sz="4400" spc="-55" dirty="0"/>
              <a:t> </a:t>
            </a:r>
            <a:r>
              <a:rPr sz="4400" dirty="0"/>
              <a:t>Example</a:t>
            </a:r>
            <a:r>
              <a:rPr sz="4400" spc="-45" dirty="0"/>
              <a:t> </a:t>
            </a:r>
            <a:r>
              <a:rPr sz="4400" dirty="0"/>
              <a:t>1</a:t>
            </a:r>
            <a:r>
              <a:rPr sz="4400" spc="-45" dirty="0"/>
              <a:t> </a:t>
            </a:r>
            <a:r>
              <a:rPr sz="4400" dirty="0"/>
              <a:t>–</a:t>
            </a:r>
            <a:r>
              <a:rPr sz="4400" spc="-45" dirty="0"/>
              <a:t> </a:t>
            </a:r>
            <a:r>
              <a:rPr sz="4400" spc="-30" dirty="0"/>
              <a:t>E-</a:t>
            </a:r>
            <a:r>
              <a:rPr sz="4400" spc="-10" dirty="0"/>
              <a:t>Commerce</a:t>
            </a:r>
            <a:r>
              <a:rPr sz="4400" u="none" spc="-10" dirty="0"/>
              <a:t> </a:t>
            </a:r>
            <a:r>
              <a:rPr sz="4400" spc="-10" dirty="0"/>
              <a:t>Business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2505913"/>
            <a:ext cx="7282815" cy="3673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Scenario:</a:t>
            </a:r>
            <a:endParaRPr sz="2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shopping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company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notices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decrease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sales.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Analysis:</a:t>
            </a:r>
            <a:endParaRPr sz="2400">
              <a:latin typeface="Calibri"/>
              <a:cs typeface="Calibri"/>
            </a:endParaRPr>
          </a:p>
          <a:p>
            <a:pPr marL="286385" marR="271145" indent="-274320">
              <a:lnSpc>
                <a:spcPts val="2300"/>
              </a:lnSpc>
              <a:spcBef>
                <a:spcPts val="56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feedback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slow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delivery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 </a:t>
            </a:r>
            <a:r>
              <a:rPr sz="2400" spc="-10" dirty="0">
                <a:latin typeface="Calibri"/>
                <a:cs typeface="Calibri"/>
              </a:rPr>
              <a:t>experience.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Sales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demand.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Solution: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delivery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services.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20" dirty="0">
                <a:latin typeface="Constantia"/>
                <a:cs typeface="Constantia"/>
              </a:rPr>
              <a:t>Provide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personalized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recommendations.</a:t>
            </a:r>
            <a:endParaRPr sz="240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20" dirty="0">
                <a:latin typeface="Constantia"/>
                <a:cs typeface="Constantia"/>
              </a:rPr>
              <a:t>Enhance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website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experience.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08406"/>
            <a:ext cx="790384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5000" spc="-25" dirty="0"/>
              <a:t>Real-</a:t>
            </a:r>
            <a:r>
              <a:rPr sz="5000" dirty="0"/>
              <a:t>Life</a:t>
            </a:r>
            <a:r>
              <a:rPr sz="5000" spc="-90" dirty="0"/>
              <a:t> </a:t>
            </a:r>
            <a:r>
              <a:rPr sz="5000" dirty="0"/>
              <a:t>Example</a:t>
            </a:r>
            <a:r>
              <a:rPr sz="5000" spc="-75" dirty="0"/>
              <a:t> </a:t>
            </a:r>
            <a:r>
              <a:rPr sz="5000" dirty="0"/>
              <a:t>2</a:t>
            </a:r>
            <a:r>
              <a:rPr sz="5000" spc="-45" dirty="0"/>
              <a:t> </a:t>
            </a:r>
            <a:r>
              <a:rPr sz="5000" dirty="0"/>
              <a:t>–</a:t>
            </a:r>
            <a:r>
              <a:rPr sz="5000" spc="-65" dirty="0"/>
              <a:t> </a:t>
            </a:r>
            <a:r>
              <a:rPr sz="5000" spc="-10" dirty="0"/>
              <a:t>Banking</a:t>
            </a:r>
            <a:r>
              <a:rPr sz="5000" u="none" spc="-10" dirty="0"/>
              <a:t> </a:t>
            </a:r>
            <a:r>
              <a:rPr sz="5000" spc="-10" dirty="0"/>
              <a:t>Sector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35940" y="2440939"/>
            <a:ext cx="7640955" cy="35375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0" dirty="0">
                <a:latin typeface="Calibri"/>
                <a:cs typeface="Calibri"/>
              </a:rPr>
              <a:t>Scenario: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satisfaction.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latin typeface="Calibri"/>
                <a:cs typeface="Calibri"/>
              </a:rPr>
              <a:t>Analysis: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issues.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latin typeface="Calibri"/>
                <a:cs typeface="Calibri"/>
              </a:rPr>
              <a:t>Solution: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Introduce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mobile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applications.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support.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faster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online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services.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0390" rIns="0" bIns="0" rtlCol="0">
            <a:spAutoFit/>
          </a:bodyPr>
          <a:lstStyle/>
          <a:p>
            <a:pPr marL="127000" marR="508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Real-</a:t>
            </a:r>
            <a:r>
              <a:rPr dirty="0"/>
              <a:t>Life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0" dirty="0"/>
              <a:t> 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10" dirty="0"/>
              <a:t>Inventory</a:t>
            </a:r>
            <a:r>
              <a:rPr u="none" spc="-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576931"/>
            <a:ext cx="6837045" cy="38696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b="1" spc="-10" dirty="0">
                <a:latin typeface="Calibri"/>
                <a:cs typeface="Calibri"/>
              </a:rPr>
              <a:t>Scenario:</a:t>
            </a:r>
            <a:endParaRPr sz="2600">
              <a:latin typeface="Calibri"/>
              <a:cs typeface="Calibri"/>
            </a:endParaRPr>
          </a:p>
          <a:p>
            <a:pPr marL="286385" marR="5080" indent="-274320">
              <a:lnSpc>
                <a:spcPts val="2810"/>
              </a:lnSpc>
              <a:spcBef>
                <a:spcPts val="66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company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excess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stock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product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shortages.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600" b="1" spc="-10" dirty="0">
                <a:latin typeface="Calibri"/>
                <a:cs typeface="Calibri"/>
              </a:rPr>
              <a:t>Analysis: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identifies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demand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patterns.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600" b="1" spc="-10" dirty="0">
                <a:latin typeface="Calibri"/>
                <a:cs typeface="Calibri"/>
              </a:rPr>
              <a:t>Solution: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Use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inventory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management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Forecast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customer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demand.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Maintain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proper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stock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levels.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672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Benefits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Business</a:t>
            </a:r>
            <a:r>
              <a:rPr spc="-40" dirty="0"/>
              <a:t> </a:t>
            </a:r>
            <a:r>
              <a:rPr spc="-10" dirty="0"/>
              <a:t>Scenario</a:t>
            </a:r>
            <a:r>
              <a:rPr u="none" spc="-1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76367"/>
            <a:ext cx="5309235" cy="347535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200" b="1" spc="-10" dirty="0">
                <a:latin typeface="Calibri"/>
                <a:cs typeface="Calibri"/>
              </a:rPr>
              <a:t>Advantages:</a:t>
            </a:r>
            <a:endParaRPr sz="3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6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quickly.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Supports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data-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Reduces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risks.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Improves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efficiency.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strategic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planning.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Creates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customer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experiences.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01467" y="755726"/>
            <a:ext cx="290195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i="0" spc="-10" dirty="0">
                <a:latin typeface="Calibri"/>
                <a:cs typeface="Calibri"/>
              </a:rPr>
              <a:t>Conclusion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47799"/>
            <a:ext cx="8035925" cy="39103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Business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scenario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understand </a:t>
            </a:r>
            <a:r>
              <a:rPr sz="2600" spc="-20" dirty="0">
                <a:latin typeface="Calibri"/>
                <a:cs typeface="Calibri"/>
              </a:rPr>
              <a:t>real-</a:t>
            </a:r>
            <a:r>
              <a:rPr sz="2600" dirty="0">
                <a:latin typeface="Calibri"/>
                <a:cs typeface="Calibri"/>
              </a:rPr>
              <a:t>world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problems.</a:t>
            </a:r>
            <a:endParaRPr sz="2600">
              <a:latin typeface="Calibri"/>
              <a:cs typeface="Calibri"/>
            </a:endParaRPr>
          </a:p>
          <a:p>
            <a:pPr marL="286385" marR="579120" indent="-274320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Proper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leads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solutions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better decisions.</a:t>
            </a:r>
            <a:endParaRPr sz="2600">
              <a:latin typeface="Calibri"/>
              <a:cs typeface="Calibri"/>
            </a:endParaRPr>
          </a:p>
          <a:p>
            <a:pPr marL="286385" marR="292735" indent="-274320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Companies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improve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performance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strategic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planning.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600" b="1" dirty="0">
                <a:latin typeface="Calibri"/>
                <a:cs typeface="Calibri"/>
              </a:rPr>
              <a:t>Final</a:t>
            </a:r>
            <a:r>
              <a:rPr sz="2600" b="1" spc="-10" dirty="0">
                <a:latin typeface="Calibri"/>
                <a:cs typeface="Calibri"/>
              </a:rPr>
              <a:t> Statement:</a:t>
            </a:r>
            <a:endParaRPr sz="2600">
              <a:latin typeface="Calibri"/>
              <a:cs typeface="Calibri"/>
            </a:endParaRPr>
          </a:p>
          <a:p>
            <a:pPr marL="286385" marR="554990" indent="-274320">
              <a:lnSpc>
                <a:spcPct val="100000"/>
              </a:lnSpc>
              <a:spcBef>
                <a:spcPts val="625"/>
              </a:spcBef>
            </a:pPr>
            <a:r>
              <a:rPr sz="2600" b="1" dirty="0">
                <a:latin typeface="Calibri"/>
                <a:cs typeface="Calibri"/>
              </a:rPr>
              <a:t>"Analyzing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business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scenarios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helps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organizations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turn </a:t>
            </a:r>
            <a:r>
              <a:rPr sz="2600" b="1" spc="-10" dirty="0">
                <a:latin typeface="Calibri"/>
                <a:cs typeface="Calibri"/>
              </a:rPr>
              <a:t>challenges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into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opportunities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for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growth."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8916" y="579196"/>
            <a:ext cx="7719059" cy="2044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4555" marR="678815" indent="367030">
              <a:lnSpc>
                <a:spcPct val="100000"/>
              </a:lnSpc>
              <a:spcBef>
                <a:spcPts val="100"/>
              </a:spcBef>
            </a:pPr>
            <a:r>
              <a:rPr dirty="0"/>
              <a:t>7:</a:t>
            </a:r>
            <a:r>
              <a:rPr spc="-90" dirty="0"/>
              <a:t> </a:t>
            </a:r>
            <a:r>
              <a:rPr dirty="0"/>
              <a:t>Introduction</a:t>
            </a:r>
            <a:r>
              <a:rPr spc="-8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spc="-20" dirty="0"/>
              <a:t>Data</a:t>
            </a:r>
            <a:r>
              <a:rPr u="none" spc="-20" dirty="0"/>
              <a:t> </a:t>
            </a:r>
            <a:r>
              <a:rPr spc="-10" dirty="0"/>
              <a:t>Governance</a:t>
            </a:r>
            <a:r>
              <a:rPr spc="-114" dirty="0"/>
              <a:t> </a:t>
            </a:r>
            <a:r>
              <a:rPr dirty="0"/>
              <a:t>&amp;</a:t>
            </a:r>
            <a:r>
              <a:rPr spc="-105" dirty="0"/>
              <a:t> </a:t>
            </a:r>
            <a:r>
              <a:rPr dirty="0"/>
              <a:t>Data</a:t>
            </a:r>
            <a:r>
              <a:rPr spc="-105" dirty="0"/>
              <a:t> </a:t>
            </a:r>
            <a:r>
              <a:rPr spc="-10" dirty="0"/>
              <a:t>Ethics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600" spc="-10" dirty="0"/>
              <a:t>Introduction</a:t>
            </a:r>
            <a:r>
              <a:rPr sz="3600" spc="-60" dirty="0"/>
              <a:t> </a:t>
            </a:r>
            <a:r>
              <a:rPr sz="3600" dirty="0"/>
              <a:t>to</a:t>
            </a:r>
            <a:r>
              <a:rPr sz="3600" spc="-90" dirty="0"/>
              <a:t> </a:t>
            </a:r>
            <a:r>
              <a:rPr sz="3600" dirty="0"/>
              <a:t>Data</a:t>
            </a:r>
            <a:r>
              <a:rPr sz="3600" spc="-85" dirty="0"/>
              <a:t> </a:t>
            </a:r>
            <a:r>
              <a:rPr sz="3600" dirty="0"/>
              <a:t>Governance</a:t>
            </a:r>
            <a:r>
              <a:rPr sz="3600" spc="-90" dirty="0"/>
              <a:t> </a:t>
            </a:r>
            <a:r>
              <a:rPr sz="3600" dirty="0"/>
              <a:t>&amp;</a:t>
            </a:r>
            <a:r>
              <a:rPr sz="3600" spc="-70" dirty="0"/>
              <a:t> </a:t>
            </a:r>
            <a:r>
              <a:rPr sz="3600" spc="-20" dirty="0"/>
              <a:t>Data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78916" y="2487548"/>
            <a:ext cx="7712709" cy="372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3600" b="1" i="1" u="sng" spc="-10" dirty="0">
                <a:solidFill>
                  <a:srgbClr val="04607A"/>
                </a:solidFill>
                <a:uFill>
                  <a:solidFill>
                    <a:srgbClr val="04607A"/>
                  </a:solidFill>
                </a:uFill>
                <a:latin typeface="Calibri"/>
                <a:cs typeface="Calibri"/>
              </a:rPr>
              <a:t>Ethics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Governance?</a:t>
            </a:r>
            <a:endParaRPr sz="2400">
              <a:latin typeface="Calibri"/>
              <a:cs typeface="Calibri"/>
            </a:endParaRPr>
          </a:p>
          <a:p>
            <a:pPr marL="286385" marR="5080" indent="-274320">
              <a:lnSpc>
                <a:spcPct val="8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Governance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controlling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accurate,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used.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responsibilities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Ethics?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Ethics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86385" marR="626110" indent="-274320">
              <a:lnSpc>
                <a:spcPct val="8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privacy,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transparency,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protecting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 </a:t>
            </a:r>
            <a:r>
              <a:rPr sz="2400" spc="-10" dirty="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94130"/>
            <a:ext cx="74733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25" dirty="0"/>
              <a:t> </a:t>
            </a:r>
            <a:r>
              <a:rPr dirty="0"/>
              <a:t>Governance</a:t>
            </a:r>
            <a:r>
              <a:rPr spc="-125" dirty="0"/>
              <a:t> </a:t>
            </a:r>
            <a:r>
              <a:rPr dirty="0"/>
              <a:t>–</a:t>
            </a:r>
            <a:r>
              <a:rPr spc="-145" dirty="0"/>
              <a:t> </a:t>
            </a:r>
            <a:r>
              <a:rPr dirty="0"/>
              <a:t>Policies</a:t>
            </a:r>
            <a:r>
              <a:rPr spc="-140" dirty="0"/>
              <a:t> </a:t>
            </a:r>
            <a:r>
              <a:rPr spc="-25" dirty="0"/>
              <a:t>and</a:t>
            </a:r>
            <a:r>
              <a:rPr u="none" spc="-25" dirty="0"/>
              <a:t> </a:t>
            </a:r>
            <a:r>
              <a:rPr spc="-10" dirty="0"/>
              <a:t>Procedures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288" y="2234310"/>
            <a:ext cx="7501255" cy="399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Policies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Procedures:</a:t>
            </a:r>
            <a:endParaRPr sz="2400">
              <a:latin typeface="Calibri"/>
              <a:cs typeface="Calibri"/>
            </a:endParaRPr>
          </a:p>
          <a:p>
            <a:pPr marL="287020" marR="5080" indent="-274955">
              <a:lnSpc>
                <a:spcPct val="80000"/>
              </a:lnSpc>
              <a:spcBef>
                <a:spcPts val="49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governance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policies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collecting,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storing,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using data.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spc="-10" dirty="0">
                <a:latin typeface="Calibri"/>
                <a:cs typeface="Calibri"/>
              </a:rPr>
              <a:t>Procedures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guidelines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effectively.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Key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Policies: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policies.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management.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control.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storage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backup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procedures.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Importance: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spc="-10" dirty="0">
                <a:latin typeface="Calibri"/>
                <a:cs typeface="Calibri"/>
              </a:rPr>
              <a:t>Maintains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accuracy.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spc="-10" dirty="0">
                <a:latin typeface="Calibri"/>
                <a:cs typeface="Calibri"/>
              </a:rPr>
              <a:t>Protects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sensitive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information.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5000"/>
              <a:buFont typeface="Wingdings 2"/>
              <a:buChar char=""/>
              <a:tabLst>
                <a:tab pos="287020" algn="l"/>
              </a:tabLst>
            </a:pPr>
            <a:r>
              <a:rPr sz="2000" spc="-10" dirty="0">
                <a:latin typeface="Calibri"/>
                <a:cs typeface="Calibri"/>
              </a:rPr>
              <a:t>Improves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22503"/>
            <a:ext cx="795591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Roles</a:t>
            </a:r>
            <a:r>
              <a:rPr spc="-105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dirty="0"/>
              <a:t>Responsibilities</a:t>
            </a:r>
            <a:r>
              <a:rPr spc="-125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-20" dirty="0"/>
              <a:t>Data</a:t>
            </a:r>
            <a:r>
              <a:rPr u="none" spc="-20" dirty="0"/>
              <a:t> </a:t>
            </a:r>
            <a:r>
              <a:rPr spc="-10" dirty="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76601"/>
            <a:ext cx="5444490" cy="4208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r>
              <a:rPr sz="3200" b="1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Roles: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Owner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Responsible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assets.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Ensures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proper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Steward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Maintains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quality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accuracy.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5454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Manages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daily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activities.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Calibri"/>
                <a:cs typeface="Calibri"/>
              </a:rPr>
              <a:t>IT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Team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spc="-10" dirty="0">
                <a:latin typeface="Calibri"/>
                <a:cs typeface="Calibri"/>
              </a:rPr>
              <a:t>Provides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technical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support.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Ensures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security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infrastructure.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Users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181"/>
              <a:buFont typeface="Wingdings 2"/>
              <a:buChar char="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Follow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policies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responsibly.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89633" y="827658"/>
            <a:ext cx="632079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Principles</a:t>
            </a:r>
            <a:r>
              <a:rPr sz="5000" spc="-75" dirty="0"/>
              <a:t> </a:t>
            </a:r>
            <a:r>
              <a:rPr sz="5000" dirty="0"/>
              <a:t>of</a:t>
            </a:r>
            <a:r>
              <a:rPr sz="5000" spc="-55" dirty="0"/>
              <a:t> </a:t>
            </a:r>
            <a:r>
              <a:rPr sz="5000" dirty="0"/>
              <a:t>Data</a:t>
            </a:r>
            <a:r>
              <a:rPr sz="5000" spc="-60" dirty="0"/>
              <a:t> </a:t>
            </a:r>
            <a:r>
              <a:rPr sz="5000" spc="-10" dirty="0"/>
              <a:t>Ethics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35940" y="1840843"/>
            <a:ext cx="7534275" cy="442531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3200" b="1" dirty="0">
                <a:latin typeface="Calibri"/>
                <a:cs typeface="Calibri"/>
              </a:rPr>
              <a:t>Main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Principles:</a:t>
            </a:r>
            <a:endParaRPr sz="3200">
              <a:latin typeface="Calibri"/>
              <a:cs typeface="Calibri"/>
            </a:endParaRPr>
          </a:p>
          <a:p>
            <a:pPr marL="290830" indent="-279400">
              <a:lnSpc>
                <a:spcPct val="100000"/>
              </a:lnSpc>
              <a:spcBef>
                <a:spcPts val="660"/>
              </a:spcBef>
              <a:buClr>
                <a:srgbClr val="0AD0D9"/>
              </a:buClr>
              <a:buSzPct val="90384"/>
              <a:buFont typeface="Wingdings"/>
              <a:buChar char=""/>
              <a:tabLst>
                <a:tab pos="290830" algn="l"/>
              </a:tabLst>
            </a:pPr>
            <a:r>
              <a:rPr sz="2600" b="1" spc="-10" dirty="0">
                <a:latin typeface="Calibri"/>
                <a:cs typeface="Calibri"/>
              </a:rPr>
              <a:t>Fairness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without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discrimination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bias.</a:t>
            </a:r>
            <a:endParaRPr sz="2600">
              <a:latin typeface="Calibri"/>
              <a:cs typeface="Calibri"/>
            </a:endParaRPr>
          </a:p>
          <a:p>
            <a:pPr marL="291465" indent="-279400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0384"/>
              <a:buFont typeface="Wingdings"/>
              <a:buChar char=""/>
              <a:tabLst>
                <a:tab pos="291465" algn="l"/>
              </a:tabLst>
            </a:pPr>
            <a:r>
              <a:rPr sz="2600" b="1" spc="-10" dirty="0">
                <a:latin typeface="Calibri"/>
                <a:cs typeface="Calibri"/>
              </a:rPr>
              <a:t>Privacy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600" dirty="0">
                <a:latin typeface="Calibri"/>
                <a:cs typeface="Calibri"/>
              </a:rPr>
              <a:t>Personal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protected.</a:t>
            </a:r>
            <a:endParaRPr sz="2600">
              <a:latin typeface="Calibri"/>
              <a:cs typeface="Calibri"/>
            </a:endParaRPr>
          </a:p>
          <a:p>
            <a:pPr marL="290830" indent="-279400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0384"/>
              <a:buFont typeface="Wingdings"/>
              <a:buChar char=""/>
              <a:tabLst>
                <a:tab pos="290830" algn="l"/>
              </a:tabLst>
            </a:pPr>
            <a:r>
              <a:rPr sz="2600" b="1" spc="-10" dirty="0">
                <a:latin typeface="Calibri"/>
                <a:cs typeface="Calibri"/>
              </a:rPr>
              <a:t>Transparency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Calibri"/>
                <a:cs typeface="Calibri"/>
              </a:rPr>
              <a:t>Users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collected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used.</a:t>
            </a:r>
            <a:endParaRPr sz="2600">
              <a:latin typeface="Calibri"/>
              <a:cs typeface="Calibri"/>
            </a:endParaRPr>
          </a:p>
          <a:p>
            <a:pPr marL="290830" indent="-27940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0384"/>
              <a:buFont typeface="Wingdings"/>
              <a:buChar char=""/>
              <a:tabLst>
                <a:tab pos="290830" algn="l"/>
              </a:tabLst>
            </a:pPr>
            <a:r>
              <a:rPr sz="2600" b="1" spc="-10" dirty="0">
                <a:latin typeface="Calibri"/>
                <a:cs typeface="Calibri"/>
              </a:rPr>
              <a:t>Accountability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must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take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responsibility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usage.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031189"/>
            <a:ext cx="710184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Privacy</a:t>
            </a:r>
            <a:r>
              <a:rPr sz="5000" spc="-35" dirty="0"/>
              <a:t> </a:t>
            </a:r>
            <a:r>
              <a:rPr sz="5000" dirty="0"/>
              <a:t>and</a:t>
            </a:r>
            <a:r>
              <a:rPr sz="5000" spc="-35" dirty="0"/>
              <a:t> </a:t>
            </a:r>
            <a:r>
              <a:rPr sz="5000" spc="-10" dirty="0"/>
              <a:t>Confidentiality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35940" y="1858892"/>
            <a:ext cx="7696834" cy="43827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b="1" spc="-10" dirty="0">
                <a:latin typeface="Calibri"/>
                <a:cs typeface="Calibri"/>
              </a:rPr>
              <a:t>Privacy</a:t>
            </a:r>
            <a:endParaRPr sz="2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4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Protects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individuals'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personal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misuse.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collect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necessary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b="1" spc="-10" dirty="0">
                <a:latin typeface="Calibri"/>
                <a:cs typeface="Calibri"/>
              </a:rPr>
              <a:t>Confidentiality</a:t>
            </a:r>
            <a:endParaRPr sz="2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4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Ensures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authorized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people.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spc="-10" dirty="0">
                <a:latin typeface="Calibri"/>
                <a:cs typeface="Calibri"/>
              </a:rPr>
              <a:t>Examples: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Password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protection.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encryption.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control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836498"/>
            <a:ext cx="775970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Transparency</a:t>
            </a:r>
            <a:r>
              <a:rPr spc="-13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" dirty="0"/>
              <a:t>Accountability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40829"/>
            <a:ext cx="6757670" cy="43370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200" b="1" spc="-10" dirty="0">
                <a:latin typeface="Calibri"/>
                <a:cs typeface="Calibri"/>
              </a:rPr>
              <a:t>Transparency:</a:t>
            </a:r>
            <a:endParaRPr sz="32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35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clearly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explain:</a:t>
            </a:r>
            <a:endParaRPr sz="26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spcBef>
                <a:spcPts val="29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collected.</a:t>
            </a:r>
            <a:endParaRPr sz="2400">
              <a:latin typeface="Calibri"/>
              <a:cs typeface="Calibri"/>
            </a:endParaRPr>
          </a:p>
          <a:p>
            <a:pPr marL="652145" lvl="1" indent="-246379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2145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collected.</a:t>
            </a:r>
            <a:endParaRPr sz="24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used.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3200" b="1" spc="-10" dirty="0">
                <a:latin typeface="Calibri"/>
                <a:cs typeface="Calibri"/>
              </a:rPr>
              <a:t>Accountability:</a:t>
            </a:r>
            <a:endParaRPr sz="3200">
              <a:latin typeface="Calibri"/>
              <a:cs typeface="Calibri"/>
            </a:endParaRPr>
          </a:p>
          <a:p>
            <a:pPr marL="286385" marR="5080" indent="-274320">
              <a:lnSpc>
                <a:spcPts val="2810"/>
              </a:lnSpc>
              <a:spcBef>
                <a:spcPts val="70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responsible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protecting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managing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properly.</a:t>
            </a:r>
            <a:endParaRPr sz="2600">
              <a:latin typeface="Calibri"/>
              <a:cs typeface="Calibri"/>
            </a:endParaRPr>
          </a:p>
          <a:p>
            <a:pPr marL="286385" marR="488950" indent="-274320">
              <a:lnSpc>
                <a:spcPts val="281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Regular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monitoring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audits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help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maintain responsibility.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Regulatory</a:t>
            </a:r>
            <a:r>
              <a:rPr spc="-100" dirty="0"/>
              <a:t> </a:t>
            </a:r>
            <a:r>
              <a:rPr dirty="0"/>
              <a:t>Compliance</a:t>
            </a:r>
            <a:r>
              <a:rPr spc="-100" dirty="0"/>
              <a:t> </a:t>
            </a:r>
            <a:r>
              <a:rPr dirty="0"/>
              <a:t>(GDPR</a:t>
            </a:r>
            <a:r>
              <a:rPr spc="-100" dirty="0"/>
              <a:t> </a:t>
            </a:r>
            <a:r>
              <a:rPr spc="-50" dirty="0"/>
              <a:t>&amp;</a:t>
            </a:r>
            <a:r>
              <a:rPr u="none" spc="-50" dirty="0"/>
              <a:t> </a:t>
            </a:r>
            <a:r>
              <a:rPr spc="-10" dirty="0"/>
              <a:t>CCPA)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62555"/>
            <a:ext cx="7136765" cy="335470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600" b="1" dirty="0">
                <a:latin typeface="Calibri"/>
                <a:cs typeface="Calibri"/>
              </a:rPr>
              <a:t>GDPR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(General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Protection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Regulation)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protection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European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Union.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Gives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control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personal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Requires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organizations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protect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b="1" spc="-25" dirty="0">
                <a:latin typeface="Calibri"/>
                <a:cs typeface="Calibri"/>
              </a:rPr>
              <a:t>CCPA</a:t>
            </a:r>
            <a:r>
              <a:rPr sz="2600" b="1" spc="-10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(California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Consumer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Privacy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Act)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privacy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law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California,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USA.</a:t>
            </a:r>
            <a:endParaRPr sz="2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Calibri"/>
                <a:cs typeface="Calibri"/>
              </a:rPr>
              <a:t>Provides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rights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delete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personal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794130"/>
            <a:ext cx="78009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Building</a:t>
            </a:r>
            <a:r>
              <a:rPr spc="-8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Culture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Responsible</a:t>
            </a:r>
            <a:r>
              <a:rPr u="none" spc="-10" dirty="0"/>
              <a:t> </a:t>
            </a:r>
            <a:r>
              <a:rPr dirty="0"/>
              <a:t>Data</a:t>
            </a:r>
            <a:r>
              <a:rPr spc="-125" dirty="0"/>
              <a:t> </a:t>
            </a:r>
            <a:r>
              <a:rPr spc="-25" dirty="0"/>
              <a:t>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98279"/>
            <a:ext cx="5371465" cy="40493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b="1" spc="-20" dirty="0">
                <a:latin typeface="Calibri"/>
                <a:cs typeface="Calibri"/>
              </a:rPr>
              <a:t>Ways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Promote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Responsible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Use: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25" dirty="0">
                <a:latin typeface="Calibri"/>
                <a:cs typeface="Calibri"/>
              </a:rPr>
              <a:t>Train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ethics.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policies.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Encourage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practices.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Regularly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review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usage.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Promote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transparency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responsibility.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b="1" spc="-10" dirty="0">
                <a:latin typeface="Calibri"/>
                <a:cs typeface="Calibri"/>
              </a:rPr>
              <a:t>Benefits: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Builds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trust.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risks.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organizational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reputation.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01467" y="755726"/>
            <a:ext cx="290195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i="0" spc="-10" dirty="0">
                <a:latin typeface="Calibri"/>
                <a:cs typeface="Calibri"/>
              </a:rPr>
              <a:t>Conclusion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06997"/>
            <a:ext cx="7990205" cy="430085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800" b="1" dirty="0">
                <a:latin typeface="Calibri"/>
                <a:cs typeface="Calibri"/>
              </a:rPr>
              <a:t>Key</a:t>
            </a:r>
            <a:r>
              <a:rPr sz="2800" b="1" spc="-11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Points:</a:t>
            </a:r>
            <a:endParaRPr sz="2800">
              <a:latin typeface="Calibri"/>
              <a:cs typeface="Calibri"/>
            </a:endParaRPr>
          </a:p>
          <a:p>
            <a:pPr marL="286385" marR="5080" indent="-274320">
              <a:lnSpc>
                <a:spcPts val="2590"/>
              </a:lnSpc>
              <a:spcBef>
                <a:spcPts val="64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Governance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Ethics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responsible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usage.</a:t>
            </a:r>
            <a:endParaRPr sz="2400">
              <a:latin typeface="Calibri"/>
              <a:cs typeface="Calibri"/>
            </a:endParaRPr>
          </a:p>
          <a:p>
            <a:pPr marL="286385" marR="483234" indent="-274320">
              <a:lnSpc>
                <a:spcPts val="2590"/>
              </a:lnSpc>
              <a:spcBef>
                <a:spcPts val="62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spc="-25" dirty="0">
                <a:latin typeface="Calibri"/>
                <a:cs typeface="Calibri"/>
              </a:rPr>
              <a:t>Privacy,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transparency,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accountability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important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protecting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  <a:p>
            <a:pPr marL="286385" marR="119380" indent="-274320">
              <a:lnSpc>
                <a:spcPts val="259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regulations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GDPR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CCPA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organizations </a:t>
            </a:r>
            <a:r>
              <a:rPr sz="2400" dirty="0">
                <a:latin typeface="Calibri"/>
                <a:cs typeface="Calibri"/>
              </a:rPr>
              <a:t>maintain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trust.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800" b="1" dirty="0">
                <a:latin typeface="Calibri"/>
                <a:cs typeface="Calibri"/>
              </a:rPr>
              <a:t>Final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Statement</a:t>
            </a:r>
            <a:r>
              <a:rPr sz="2400" b="1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286385" marR="529590" indent="-274320">
              <a:lnSpc>
                <a:spcPts val="2590"/>
              </a:lnSpc>
              <a:spcBef>
                <a:spcPts val="640"/>
              </a:spcBef>
            </a:pPr>
            <a:r>
              <a:rPr sz="2400" b="1" spc="-10" dirty="0">
                <a:latin typeface="Calibri"/>
                <a:cs typeface="Calibri"/>
              </a:rPr>
              <a:t>"Responsible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management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creates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trust,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security,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 </a:t>
            </a:r>
            <a:r>
              <a:rPr sz="2400" b="1" spc="-10" dirty="0">
                <a:latin typeface="Calibri"/>
                <a:cs typeface="Calibri"/>
              </a:rPr>
              <a:t>long-</a:t>
            </a:r>
            <a:r>
              <a:rPr sz="2400" b="1" dirty="0">
                <a:latin typeface="Calibri"/>
                <a:cs typeface="Calibri"/>
              </a:rPr>
              <a:t>term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success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organizations."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2823</Words>
  <Application>Microsoft Office PowerPoint</Application>
  <PresentationFormat>On-screen Show (4:3)</PresentationFormat>
  <Paragraphs>607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Constantia</vt:lpstr>
      <vt:lpstr>Times New Roman</vt:lpstr>
      <vt:lpstr>Wingdings</vt:lpstr>
      <vt:lpstr>Wingdings 2</vt:lpstr>
      <vt:lpstr>Office Theme</vt:lpstr>
      <vt:lpstr>TOPIC:INFORMATION TECHNOLOGY</vt:lpstr>
      <vt:lpstr>1:Introduction to IT and Business Systems</vt:lpstr>
      <vt:lpstr>Role of IT in Business Operations</vt:lpstr>
      <vt:lpstr>Overview of Business Systems</vt:lpstr>
      <vt:lpstr>Interplay Between IT and Business Strategy</vt:lpstr>
      <vt:lpstr>Benefits and Challenges</vt:lpstr>
      <vt:lpstr>ERP vs CRM</vt:lpstr>
      <vt:lpstr>Conclusion</vt:lpstr>
      <vt:lpstr>2:Data Types, Sources, and Lifecycle</vt:lpstr>
      <vt:lpstr>Common Data Sources</vt:lpstr>
      <vt:lpstr>Data Collection Methods</vt:lpstr>
      <vt:lpstr>Data Lifecycle Management</vt:lpstr>
      <vt:lpstr>Data Lifecycle Diagram</vt:lpstr>
      <vt:lpstr>Data Quality and Integrity</vt:lpstr>
      <vt:lpstr>Conclusion</vt:lpstr>
      <vt:lpstr>3:Introduction to Business Analyst Role</vt:lpstr>
      <vt:lpstr>Main Objectives</vt:lpstr>
      <vt:lpstr>Responsibilities of a Business Analyst</vt:lpstr>
      <vt:lpstr>Key Skills for Business Analysts Essential Skills</vt:lpstr>
      <vt:lpstr>Other Important Skills Technical and Professional Skills</vt:lpstr>
      <vt:lpstr>Business Analysis Methodologies Common Methodologies Agile</vt:lpstr>
      <vt:lpstr>Agile vs Waterfall Comparison of Methodologies</vt:lpstr>
      <vt:lpstr>Stakeholder Management</vt:lpstr>
      <vt:lpstr>Stakeholder Management Activities</vt:lpstr>
      <vt:lpstr>Conclusion</vt:lpstr>
      <vt:lpstr>4: Data vs. Information</vt:lpstr>
      <vt:lpstr>What is Information?</vt:lpstr>
      <vt:lpstr>Data vs. Information Comparison</vt:lpstr>
      <vt:lpstr>From Data to Information to Knowledge</vt:lpstr>
      <vt:lpstr>Importance of the Transformation Process</vt:lpstr>
      <vt:lpstr> Value of Information in Decision Making</vt:lpstr>
      <vt:lpstr> Characteristics of Good Information</vt:lpstr>
      <vt:lpstr>Real-Life Applications of Information</vt:lpstr>
      <vt:lpstr>Conclusion</vt:lpstr>
      <vt:lpstr>5:Overview of Data-Driven Decision Making</vt:lpstr>
      <vt:lpstr>Importance:</vt:lpstr>
      <vt:lpstr>Principles of Data-Driven Decision Making</vt:lpstr>
      <vt:lpstr>Principles of Data-Driven Decision Making (Continued)</vt:lpstr>
      <vt:lpstr>Benefits of Using Data for Decisions</vt:lpstr>
      <vt:lpstr>Benefits of Data-Driven Decisions (Continued)</vt:lpstr>
      <vt:lpstr>Steps in Data-Driven Decision Process</vt:lpstr>
      <vt:lpstr>Steps in Data-Driven Decision Process (Continued)</vt:lpstr>
      <vt:lpstr>Evaluation of Decisions</vt:lpstr>
      <vt:lpstr>Challenges and Pitfalls in Data-Driven Approaches</vt:lpstr>
      <vt:lpstr>Conclusion</vt:lpstr>
      <vt:lpstr>6:Case Discussions / Real-Life Examples</vt:lpstr>
      <vt:lpstr>Importance:</vt:lpstr>
      <vt:lpstr>Understanding Business Scenarios</vt:lpstr>
      <vt:lpstr>Steps in Business Scenario Analysis</vt:lpstr>
      <vt:lpstr>Real-Life Example 1 – E-Commerce Business</vt:lpstr>
      <vt:lpstr>Real-Life Example 2 – Banking Sector</vt:lpstr>
      <vt:lpstr>Real-Life Example 3 – Inventory Management</vt:lpstr>
      <vt:lpstr>Benefits of Business Scenario Analysis</vt:lpstr>
      <vt:lpstr>Conclusion</vt:lpstr>
      <vt:lpstr>7: Introduction to Data Governance &amp; Data Ethics Introduction to Data Governance &amp; Data</vt:lpstr>
      <vt:lpstr>Data Governance – Policies and Procedures</vt:lpstr>
      <vt:lpstr>Roles and Responsibilities in Data Governance</vt:lpstr>
      <vt:lpstr>Principles of Data Ethics</vt:lpstr>
      <vt:lpstr>Privacy and Confidentiality</vt:lpstr>
      <vt:lpstr>Transparency and Accountability</vt:lpstr>
      <vt:lpstr>Regulatory Compliance (GDPR &amp; CCPA)</vt:lpstr>
      <vt:lpstr>Building a Culture of Responsible Data Use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Joydeep Paul</cp:lastModifiedBy>
  <cp:revision>1</cp:revision>
  <dcterms:created xsi:type="dcterms:W3CDTF">2026-07-30T08:08:19Z</dcterms:created>
  <dcterms:modified xsi:type="dcterms:W3CDTF">2026-07-30T08:28:49Z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2026-07-30T00:00:00Z</vt:filetime>
  </property>
  <property fmtid="{D5CDD505-2E9C-101B-9397-08002B2CF9AE}" pid="6" name="Producer">
    <vt:lpwstr>3-Heights(TM) PDF Security Shell 4.8.25.2 (http://www.pdf-tools.com)</vt:lpwstr>
  </property>
</Properties>
</file>